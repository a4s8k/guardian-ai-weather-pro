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5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D1F">
              <a:alpha val="6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1005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0C9A7"/>
                </a:solidFill>
              </a:rPr>
              <a:t>ЖИ · АУА РАЙ · ТАБИҒИ АПАТ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02920" y="1371600"/>
            <a:ext cx="8229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5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GUARDIAN AI</a:t>
            </a:r>
            <a:endParaRPr lang="en-US" sz="5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WEATHER PRO</a:t>
            </a:r>
            <a:endParaRPr lang="en-US" sz="5800" dirty="0"/>
          </a:p>
        </p:txBody>
      </p:sp>
      <p:sp>
        <p:nvSpPr>
          <p:cNvPr id="7" name="Text 4"/>
          <p:cNvSpPr/>
          <p:nvPr/>
        </p:nvSpPr>
        <p:spPr>
          <a:xfrm>
            <a:off x="502920" y="33375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EAAC8"/>
                </a:solidFill>
              </a:rPr>
              <a:t>Табиғи апаттарды жасанды интеллект арқылы болжайтын веб-платформа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02920" y="4069080"/>
            <a:ext cx="8321040" cy="18288"/>
          </a:xfrm>
          <a:prstGeom prst="rect">
            <a:avLst/>
          </a:prstGeom>
          <a:solidFill>
            <a:srgbClr val="8EAAC8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4187952"/>
            <a:ext cx="6400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4FD"/>
                </a:solidFill>
              </a:rPr>
              <a:t>Арслан Өмен  ·  Иманғали Құрбанбек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02920" y="45262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AAC8"/>
                </a:solidFill>
              </a:rPr>
              <a:t>Жетекші: Н.Әсілбай  |  Төлеби ауданы, 9-сынып  |  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45000"/>
          </a:blip>
          <a:stretch>
            <a:fillRect/>
          </a:stretch>
        </p:blipFill>
        <p:spPr>
          <a:xfrm>
            <a:off x="4114800" y="0"/>
            <a:ext cx="50292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0" y="0"/>
            <a:ext cx="5029200" cy="5143500"/>
          </a:xfrm>
          <a:prstGeom prst="rect">
            <a:avLst/>
          </a:prstGeom>
          <a:solidFill>
            <a:srgbClr val="0D1F3C">
              <a:alpha val="7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20040" y="256032"/>
            <a:ext cx="502920" cy="329184"/>
          </a:xfrm>
          <a:prstGeom prst="rect">
            <a:avLst/>
          </a:prstGeom>
          <a:solidFill>
            <a:srgbClr val="00C9A7">
              <a:alpha val="8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20040" y="256032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0D1F"/>
                </a:solidFill>
              </a:rPr>
              <a:t>01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960120" y="201168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00C9A7"/>
                </a:solidFill>
              </a:rPr>
              <a:t>КІРІСПЕ ЖӘНЕ ӨЗЕКТІЛІК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320040" y="960120"/>
            <a:ext cx="502920" cy="502920"/>
          </a:xfrm>
          <a:prstGeom prst="ellipse">
            <a:avLst/>
          </a:prstGeom>
          <a:solidFill>
            <a:srgbClr val="00C9A7">
              <a:alpha val="7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0040" y="960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🌡️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32688" y="98755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4FD"/>
                </a:solidFill>
              </a:rPr>
              <a:t>Климаттың өзгеруі — жаһандық мәселе. Апаттар жылдан жылға жиілеп барады.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20040" y="1874520"/>
            <a:ext cx="502920" cy="502920"/>
          </a:xfrm>
          <a:prstGeom prst="ellipse">
            <a:avLst/>
          </a:prstGeom>
          <a:solidFill>
            <a:srgbClr val="00C9A7">
              <a:alpha val="7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004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🌊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932688" y="190195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4FD"/>
                </a:solidFill>
              </a:rPr>
              <a:t>Су тасқыны, орман өрті, дауыл, аптап ыстық — миллиондаған адамдарға қауіп.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320040" y="2788920"/>
            <a:ext cx="502920" cy="502920"/>
          </a:xfrm>
          <a:prstGeom prst="ellipse">
            <a:avLst/>
          </a:prstGeom>
          <a:solidFill>
            <a:srgbClr val="00C9A7">
              <a:alpha val="7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004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932688" y="281635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4FD"/>
                </a:solidFill>
              </a:rPr>
              <a:t>Апатты жойып қоймай, оны алдын ала болжау — ең маңызды міндет.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320040" y="3703320"/>
            <a:ext cx="502920" cy="502920"/>
          </a:xfrm>
          <a:prstGeom prst="ellipse">
            <a:avLst/>
          </a:prstGeom>
          <a:solidFill>
            <a:srgbClr val="00C9A7">
              <a:alpha val="7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2004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932688" y="373075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4FD"/>
                </a:solidFill>
              </a:rPr>
              <a:t>ЖИ — үлкен деректерді жылдам өңдеп, апат ықтималдығын есептей алатын заманауи құрал.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320040" y="4663440"/>
            <a:ext cx="8503920" cy="256032"/>
          </a:xfrm>
          <a:prstGeom prst="rect">
            <a:avLst/>
          </a:prstGeom>
          <a:solidFill>
            <a:srgbClr val="1122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20040" y="4681728"/>
            <a:ext cx="8503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9A7"/>
                </a:solidFill>
              </a:rPr>
              <a:t>guardianaiweatherpro.streamlit.app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C3F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502920" cy="329184"/>
          </a:xfrm>
          <a:prstGeom prst="rect">
            <a:avLst/>
          </a:prstGeom>
          <a:solidFill>
            <a:srgbClr val="4FC3F7">
              <a:alpha val="8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56032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0D1F"/>
                </a:solidFill>
              </a:rPr>
              <a:t>02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60120" y="20116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4FC3F7"/>
                </a:solidFill>
              </a:rPr>
              <a:t>МАҚСАТ ЖӘНЕ МІНДЕТТЕР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8503920" cy="914400"/>
          </a:xfrm>
          <a:prstGeom prst="rect">
            <a:avLst/>
          </a:prstGeom>
          <a:solidFill>
            <a:srgbClr val="4FC3F7">
              <a:alpha val="13000"/>
            </a:srgbClr>
          </a:solidFill>
          <a:ln w="12700">
            <a:solidFill>
              <a:srgbClr val="4FC3F7">
                <a:alpha val="6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822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C3F7"/>
                </a:solidFill>
              </a:rPr>
              <a:t>🎯  МАҚСАТ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1155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4FD"/>
                </a:solidFill>
              </a:rPr>
              <a:t>ЖИ арқылы белгілі бір аймақтағы табиғи апат қаупін бағалайтын және қолданушыға алдын ала ескерту беретін веб-платформа әзірлеу.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874520"/>
            <a:ext cx="2651760" cy="1188720"/>
          </a:xfrm>
          <a:prstGeom prst="rect">
            <a:avLst/>
          </a:prstGeom>
          <a:solidFill>
            <a:srgbClr val="112240"/>
          </a:solidFill>
          <a:ln w="12700">
            <a:solidFill>
              <a:srgbClr val="4FC3F7">
                <a:alpha val="45000"/>
              </a:srgbClr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011680"/>
            <a:ext cx="411480" cy="411480"/>
          </a:xfrm>
          <a:prstGeom prst="ellipse">
            <a:avLst/>
          </a:prstGeom>
          <a:solidFill>
            <a:srgbClr val="4FC3F7">
              <a:alpha val="9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011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0D1F"/>
                </a:solidFill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78408" y="205740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D"/>
                </a:solidFill>
              </a:rPr>
              <a:t>Деректерді зерттеу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154680" y="1874520"/>
            <a:ext cx="2651760" cy="1188720"/>
          </a:xfrm>
          <a:prstGeom prst="rect">
            <a:avLst/>
          </a:prstGeom>
          <a:solidFill>
            <a:srgbClr val="112240"/>
          </a:solidFill>
          <a:ln w="12700">
            <a:solidFill>
              <a:srgbClr val="4FC3F7">
                <a:alpha val="45000"/>
              </a:srgbClr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4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91840" y="2011680"/>
            <a:ext cx="411480" cy="411480"/>
          </a:xfrm>
          <a:prstGeom prst="ellipse">
            <a:avLst/>
          </a:prstGeom>
          <a:solidFill>
            <a:srgbClr val="4FC3F7">
              <a:alpha val="9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2011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0D1F"/>
                </a:solidFill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813048" y="205740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D"/>
                </a:solidFill>
              </a:rPr>
              <a:t>Қауіп факторларын анықтау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89320" y="1874520"/>
            <a:ext cx="2834640" cy="1188720"/>
          </a:xfrm>
          <a:prstGeom prst="rect">
            <a:avLst/>
          </a:prstGeom>
          <a:solidFill>
            <a:srgbClr val="112240"/>
          </a:solidFill>
          <a:ln w="12700">
            <a:solidFill>
              <a:srgbClr val="4FC3F7">
                <a:alpha val="45000"/>
              </a:srgbClr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4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2011680"/>
            <a:ext cx="411480" cy="411480"/>
          </a:xfrm>
          <a:prstGeom prst="ellipse">
            <a:avLst/>
          </a:prstGeom>
          <a:solidFill>
            <a:srgbClr val="4FC3F7">
              <a:alpha val="9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2011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0D1F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647688" y="205740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D"/>
                </a:solidFill>
              </a:rPr>
              <a:t>ЖИ логикасын құру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3200400"/>
            <a:ext cx="4023360" cy="1188720"/>
          </a:xfrm>
          <a:prstGeom prst="rect">
            <a:avLst/>
          </a:prstGeom>
          <a:solidFill>
            <a:srgbClr val="112240"/>
          </a:solidFill>
          <a:ln w="12700">
            <a:solidFill>
              <a:srgbClr val="4FC3F7">
                <a:alpha val="45000"/>
              </a:srgbClr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4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337560"/>
            <a:ext cx="411480" cy="411480"/>
          </a:xfrm>
          <a:prstGeom prst="ellipse">
            <a:avLst/>
          </a:prstGeom>
          <a:solidFill>
            <a:srgbClr val="4FC3F7">
              <a:alpha val="9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337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0D1F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78408" y="338328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D"/>
                </a:solidFill>
              </a:rPr>
              <a:t>Windy картасын қосу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0" y="3200400"/>
            <a:ext cx="4251960" cy="1188720"/>
          </a:xfrm>
          <a:prstGeom prst="rect">
            <a:avLst/>
          </a:prstGeom>
          <a:solidFill>
            <a:srgbClr val="112240"/>
          </a:solidFill>
          <a:ln w="12700">
            <a:solidFill>
              <a:srgbClr val="4FC3F7">
                <a:alpha val="45000"/>
              </a:srgbClr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4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3337560"/>
            <a:ext cx="411480" cy="411480"/>
          </a:xfrm>
          <a:prstGeom prst="ellipse">
            <a:avLst/>
          </a:prstGeom>
          <a:solidFill>
            <a:srgbClr val="4FC3F7">
              <a:alpha val="9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3337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0D1F"/>
                </a:solidFill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230368" y="33832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D"/>
                </a:solidFill>
              </a:rPr>
              <a:t>MVP жасау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20040" y="4663440"/>
            <a:ext cx="8503920" cy="256032"/>
          </a:xfrm>
          <a:prstGeom prst="rect">
            <a:avLst/>
          </a:prstGeom>
          <a:solidFill>
            <a:srgbClr val="1122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4681728"/>
            <a:ext cx="8503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9A7"/>
                </a:solidFill>
              </a:rPr>
              <a:t>guardianaiweatherpro.streamlit.app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7B61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502920" cy="329184"/>
          </a:xfrm>
          <a:prstGeom prst="rect">
            <a:avLst/>
          </a:prstGeom>
          <a:solidFill>
            <a:srgbClr val="7B61FF">
              <a:alpha val="8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56032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0D1F"/>
                </a:solidFill>
              </a:rPr>
              <a:t>03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60120" y="20116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7B61FF"/>
                </a:solidFill>
              </a:rPr>
              <a:t>ШЕШІМ АРХИТЕКТУРАСЫ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01168" y="914400"/>
            <a:ext cx="1627632" cy="3767328"/>
          </a:xfrm>
          <a:prstGeom prst="rect">
            <a:avLst/>
          </a:prstGeom>
          <a:solidFill>
            <a:srgbClr val="112240"/>
          </a:solidFill>
          <a:ln w="19050">
            <a:solidFill>
              <a:srgbClr val="00C9A7">
                <a:alpha val="70000"/>
              </a:srgbClr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" y="914400"/>
            <a:ext cx="1627632" cy="475488"/>
          </a:xfrm>
          <a:prstGeom prst="rect">
            <a:avLst/>
          </a:prstGeom>
          <a:solidFill>
            <a:srgbClr val="00C9A7">
              <a:alpha val="78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" y="94183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🖥️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04088" y="98755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0C9A7"/>
                </a:solidFill>
              </a:rPr>
              <a:t>UI ҚАБАТЫ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92608" y="1508760"/>
            <a:ext cx="1444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Streamlit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92608" y="1993392"/>
            <a:ext cx="14447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AAC8"/>
                </a:solidFill>
              </a:rPr>
              <a:t>Адаптивті веб-интерфейс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828800" y="2743200"/>
            <a:ext cx="137160" cy="0"/>
          </a:xfrm>
          <a:prstGeom prst="line">
            <a:avLst/>
          </a:prstGeom>
          <a:noFill/>
          <a:ln w="19050">
            <a:solidFill>
              <a:srgbClr val="8EAAC8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1965960" y="914400"/>
            <a:ext cx="1627632" cy="3767328"/>
          </a:xfrm>
          <a:prstGeom prst="rect">
            <a:avLst/>
          </a:prstGeom>
          <a:solidFill>
            <a:srgbClr val="112240"/>
          </a:solidFill>
          <a:ln w="19050">
            <a:solidFill>
              <a:srgbClr val="4FC3F7">
                <a:alpha val="70000"/>
              </a:srgbClr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4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965960" y="914400"/>
            <a:ext cx="1627632" cy="475488"/>
          </a:xfrm>
          <a:prstGeom prst="rect">
            <a:avLst/>
          </a:prstGeom>
          <a:solidFill>
            <a:srgbClr val="4FC3F7">
              <a:alpha val="78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11680" y="94183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📡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468880" y="98755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4FC3F7"/>
                </a:solidFill>
              </a:rPr>
              <a:t>ДЕРЕКТЕР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057400" y="1508760"/>
            <a:ext cx="1444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Open-Meteo API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057400" y="1993392"/>
            <a:ext cx="14447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AAC8"/>
                </a:solidFill>
              </a:rPr>
              <a:t>Нақты уақыт метеодеректер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593592" y="2743200"/>
            <a:ext cx="137160" cy="0"/>
          </a:xfrm>
          <a:prstGeom prst="line">
            <a:avLst/>
          </a:prstGeom>
          <a:noFill/>
          <a:ln w="19050">
            <a:solidFill>
              <a:srgbClr val="8EAAC8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3730752" y="914400"/>
            <a:ext cx="1627632" cy="3767328"/>
          </a:xfrm>
          <a:prstGeom prst="rect">
            <a:avLst/>
          </a:prstGeom>
          <a:solidFill>
            <a:srgbClr val="112240"/>
          </a:solidFill>
          <a:ln w="19050">
            <a:solidFill>
              <a:srgbClr val="FFD166">
                <a:alpha val="70000"/>
              </a:srgbClr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4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730752" y="914400"/>
            <a:ext cx="1627632" cy="475488"/>
          </a:xfrm>
          <a:prstGeom prst="rect">
            <a:avLst/>
          </a:prstGeom>
          <a:solidFill>
            <a:srgbClr val="FFD166">
              <a:alpha val="78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76472" y="94183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⚙️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233672" y="98755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D166"/>
                </a:solidFill>
              </a:rPr>
              <a:t>ӨҢДЕУ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822192" y="1508760"/>
            <a:ext cx="1444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Pandas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822192" y="1993392"/>
            <a:ext cx="14447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AAC8"/>
                </a:solidFill>
              </a:rPr>
              <a:t>Статистикалық талдау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358384" y="2743200"/>
            <a:ext cx="137160" cy="0"/>
          </a:xfrm>
          <a:prstGeom prst="line">
            <a:avLst/>
          </a:prstGeom>
          <a:noFill/>
          <a:ln w="19050">
            <a:solidFill>
              <a:srgbClr val="8EAAC8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5495544" y="914400"/>
            <a:ext cx="1627632" cy="3767328"/>
          </a:xfrm>
          <a:prstGeom prst="rect">
            <a:avLst/>
          </a:prstGeom>
          <a:solidFill>
            <a:srgbClr val="112240"/>
          </a:solidFill>
          <a:ln w="19050">
            <a:solidFill>
              <a:srgbClr val="06D6A0">
                <a:alpha val="70000"/>
              </a:srgbClr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4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495544" y="914400"/>
            <a:ext cx="1627632" cy="475488"/>
          </a:xfrm>
          <a:prstGeom prst="rect">
            <a:avLst/>
          </a:prstGeom>
          <a:solidFill>
            <a:srgbClr val="06D6A0">
              <a:alpha val="78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41264" y="94183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🗺️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5998464" y="98755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6D6A0"/>
                </a:solidFill>
              </a:rPr>
              <a:t>КАРТА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586984" y="1508760"/>
            <a:ext cx="1444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Windy API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586984" y="1993392"/>
            <a:ext cx="14447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AAC8"/>
                </a:solidFill>
              </a:rPr>
              <a:t>Интерактивті карта 10+ қабат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123176" y="2743200"/>
            <a:ext cx="137160" cy="0"/>
          </a:xfrm>
          <a:prstGeom prst="line">
            <a:avLst/>
          </a:prstGeom>
          <a:noFill/>
          <a:ln w="19050">
            <a:solidFill>
              <a:srgbClr val="8EAAC8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7260336" y="914400"/>
            <a:ext cx="1627632" cy="3767328"/>
          </a:xfrm>
          <a:prstGeom prst="rect">
            <a:avLst/>
          </a:prstGeom>
          <a:solidFill>
            <a:srgbClr val="112240"/>
          </a:solidFill>
          <a:ln w="19050">
            <a:solidFill>
              <a:srgbClr val="7B61FF">
                <a:alpha val="70000"/>
              </a:srgbClr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4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260336" y="914400"/>
            <a:ext cx="1627632" cy="475488"/>
          </a:xfrm>
          <a:prstGeom prst="rect">
            <a:avLst/>
          </a:prstGeom>
          <a:solidFill>
            <a:srgbClr val="7B61FF">
              <a:alpha val="78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06056" y="94183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7763256" y="98755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7B61FF"/>
                </a:solidFill>
              </a:rPr>
              <a:t>ИНТЕЛЛЕКТ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7351776" y="1508760"/>
            <a:ext cx="1444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GPT-4o-mini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351776" y="1993392"/>
            <a:ext cx="14447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AAC8"/>
                </a:solidFill>
              </a:rPr>
              <a:t>ЖИ сараптама, ұсыныстар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20040" y="4663440"/>
            <a:ext cx="8503920" cy="256032"/>
          </a:xfrm>
          <a:prstGeom prst="rect">
            <a:avLst/>
          </a:prstGeom>
          <a:solidFill>
            <a:srgbClr val="1122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0040" y="4681728"/>
            <a:ext cx="8503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9A7"/>
                </a:solidFill>
              </a:rPr>
              <a:t>guardianaiweatherpro.streamlit.app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502920" cy="329184"/>
          </a:xfrm>
          <a:prstGeom prst="rect">
            <a:avLst/>
          </a:prstGeom>
          <a:solidFill>
            <a:srgbClr val="00C9A7">
              <a:alpha val="8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56032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0D1F"/>
                </a:solidFill>
              </a:rPr>
              <a:t>04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60120" y="20116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00C9A7"/>
                </a:solidFill>
              </a:rPr>
              <a:t>ТЕХНОЛОГИЯЛЫҚ СТЕК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2743200" cy="1691640"/>
          </a:xfrm>
          <a:prstGeom prst="rect">
            <a:avLst/>
          </a:prstGeom>
          <a:solidFill>
            <a:srgbClr val="112240"/>
          </a:solidFill>
          <a:ln w="19050">
            <a:solidFill>
              <a:srgbClr val="00C9A7">
                <a:alpha val="55000"/>
              </a:srgbClr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60120"/>
            <a:ext cx="73152" cy="16916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371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🐍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143000" y="134416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Python 3.9+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" y="17830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9A7"/>
                </a:solidFill>
              </a:rPr>
              <a:t>Негізгі тіл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960120"/>
            <a:ext cx="2743200" cy="1691640"/>
          </a:xfrm>
          <a:prstGeom prst="rect">
            <a:avLst/>
          </a:prstGeom>
          <a:solidFill>
            <a:srgbClr val="112240"/>
          </a:solidFill>
          <a:ln w="19050">
            <a:solidFill>
              <a:srgbClr val="4FC3F7">
                <a:alpha val="55000"/>
              </a:srgbClr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4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960120"/>
            <a:ext cx="73152" cy="1691640"/>
          </a:xfrm>
          <a:prstGeom prst="rect">
            <a:avLst/>
          </a:prstGeom>
          <a:solidFill>
            <a:srgbClr val="4FC3F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10712" y="1371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🌐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069080" y="134416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Streamlit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069080" y="17830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C3F7"/>
                </a:solidFill>
              </a:rPr>
              <a:t>Веб-интерфейс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72200" y="960120"/>
            <a:ext cx="2743200" cy="1691640"/>
          </a:xfrm>
          <a:prstGeom prst="rect">
            <a:avLst/>
          </a:prstGeom>
          <a:solidFill>
            <a:srgbClr val="112240"/>
          </a:solidFill>
          <a:ln w="19050">
            <a:solidFill>
              <a:srgbClr val="7B61FF">
                <a:alpha val="55000"/>
              </a:srgbClr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960120"/>
            <a:ext cx="73152" cy="1691640"/>
          </a:xfrm>
          <a:prstGeom prst="rect">
            <a:avLst/>
          </a:prstGeom>
          <a:solidFill>
            <a:srgbClr val="7B61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36792" y="1371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🤖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995160" y="134416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OpenAI API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995160" y="17830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61FF"/>
                </a:solidFill>
              </a:rPr>
              <a:t>GPT-4o-mini ЖИ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2880360"/>
            <a:ext cx="2743200" cy="1691640"/>
          </a:xfrm>
          <a:prstGeom prst="rect">
            <a:avLst/>
          </a:prstGeom>
          <a:solidFill>
            <a:srgbClr val="112240"/>
          </a:solidFill>
          <a:ln w="19050">
            <a:solidFill>
              <a:srgbClr val="06D6A0">
                <a:alpha val="55000"/>
              </a:srgbClr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4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2880360"/>
            <a:ext cx="73152" cy="1691640"/>
          </a:xfrm>
          <a:prstGeom prst="rect">
            <a:avLst/>
          </a:prstGeom>
          <a:solidFill>
            <a:srgbClr val="06D6A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" y="32918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🌊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1143000" y="326440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Windy API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43000" y="37033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D6A0"/>
                </a:solidFill>
              </a:rPr>
              <a:t>Интерактивті карта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46120" y="2880360"/>
            <a:ext cx="2743200" cy="1691640"/>
          </a:xfrm>
          <a:prstGeom prst="rect">
            <a:avLst/>
          </a:prstGeom>
          <a:solidFill>
            <a:srgbClr val="112240"/>
          </a:solidFill>
          <a:ln w="19050">
            <a:solidFill>
              <a:srgbClr val="FFD166">
                <a:alpha val="55000"/>
              </a:srgbClr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4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46120" y="2880360"/>
            <a:ext cx="73152" cy="1691640"/>
          </a:xfrm>
          <a:prstGeom prst="rect">
            <a:avLst/>
          </a:prstGeom>
          <a:solidFill>
            <a:srgbClr val="FFD16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10712" y="32918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📡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4069080" y="326440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Open-Meteo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069080" y="37033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</a:rPr>
              <a:t>Ауа райы деректері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72200" y="2880360"/>
            <a:ext cx="2743200" cy="1691640"/>
          </a:xfrm>
          <a:prstGeom prst="rect">
            <a:avLst/>
          </a:prstGeom>
          <a:solidFill>
            <a:srgbClr val="112240"/>
          </a:solidFill>
          <a:ln w="19050">
            <a:solidFill>
              <a:srgbClr val="FF6B6B">
                <a:alpha val="55000"/>
              </a:srgbClr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4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72200" y="2880360"/>
            <a:ext cx="73152" cy="1691640"/>
          </a:xfrm>
          <a:prstGeom prst="rect">
            <a:avLst/>
          </a:prstGeom>
          <a:solidFill>
            <a:srgbClr val="FF6B6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36792" y="32918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🐼</a:t>
            </a:r>
            <a:endParaRPr lang="en-US" sz="3000" dirty="0"/>
          </a:p>
        </p:txBody>
      </p:sp>
      <p:sp>
        <p:nvSpPr>
          <p:cNvPr id="34" name="Text 32"/>
          <p:cNvSpPr/>
          <p:nvPr/>
        </p:nvSpPr>
        <p:spPr>
          <a:xfrm>
            <a:off x="6995160" y="326440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Pandas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995160" y="37033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B6B"/>
                </a:solidFill>
              </a:rPr>
              <a:t>Деректер өңдеу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20040" y="4663440"/>
            <a:ext cx="8503920" cy="256032"/>
          </a:xfrm>
          <a:prstGeom prst="rect">
            <a:avLst/>
          </a:prstGeom>
          <a:solidFill>
            <a:srgbClr val="1122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4681728"/>
            <a:ext cx="8503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9A7"/>
                </a:solidFill>
              </a:rPr>
              <a:t>guardianaiweatherpro.streamlit.app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28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F3C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D16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20040" y="256032"/>
            <a:ext cx="502920" cy="329184"/>
          </a:xfrm>
          <a:prstGeom prst="rect">
            <a:avLst/>
          </a:prstGeom>
          <a:solidFill>
            <a:srgbClr val="FFD166">
              <a:alpha val="8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20040" y="256032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0D1F"/>
                </a:solidFill>
              </a:rPr>
              <a:t>05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960120" y="20116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D166"/>
                </a:solidFill>
              </a:rPr>
              <a:t>АЛГОРИТМДЕР ЖӘНЕ ЛОГИКА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320040" y="822960"/>
            <a:ext cx="4069080" cy="1828800"/>
          </a:xfrm>
          <a:prstGeom prst="rect">
            <a:avLst/>
          </a:prstGeom>
          <a:solidFill>
            <a:srgbClr val="112240"/>
          </a:solidFill>
          <a:ln w="19050">
            <a:solidFill>
              <a:srgbClr val="FFD166">
                <a:alpha val="70000"/>
              </a:srgbClr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4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20040" y="822960"/>
            <a:ext cx="4069080" cy="384048"/>
          </a:xfrm>
          <a:prstGeom prst="rect">
            <a:avLst/>
          </a:prstGeom>
          <a:solidFill>
            <a:srgbClr val="FFD166">
              <a:alpha val="7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868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166"/>
                </a:solidFill>
              </a:rPr>
              <a:t>💨  AQI АЛГОРИТМІ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1325880"/>
            <a:ext cx="3794760" cy="347472"/>
          </a:xfrm>
          <a:prstGeom prst="rect">
            <a:avLst/>
          </a:prstGeom>
          <a:solidFill>
            <a:srgbClr val="060D1F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4360" y="136245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AQI &lt; 50 →  ✅ Жақсы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57200" y="1764792"/>
            <a:ext cx="3794760" cy="347472"/>
          </a:xfrm>
          <a:prstGeom prst="rect">
            <a:avLst/>
          </a:prstGeom>
          <a:solidFill>
            <a:srgbClr val="060D1F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4360" y="18013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AQI &lt; 100 →  🟡 Орташа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457200" y="2203704"/>
            <a:ext cx="3794760" cy="347472"/>
          </a:xfrm>
          <a:prstGeom prst="rect">
            <a:avLst/>
          </a:prstGeom>
          <a:solidFill>
            <a:srgbClr val="060D1F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4360" y="22402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AQI &gt; 100 →  🔴 Зиянды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4572000" y="822960"/>
            <a:ext cx="4251960" cy="1828800"/>
          </a:xfrm>
          <a:prstGeom prst="rect">
            <a:avLst/>
          </a:prstGeom>
          <a:solidFill>
            <a:srgbClr val="112240"/>
          </a:solidFill>
          <a:ln w="19050">
            <a:solidFill>
              <a:srgbClr val="FF6B6B">
                <a:alpha val="70000"/>
              </a:srgbClr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4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572000" y="822960"/>
            <a:ext cx="4251960" cy="384048"/>
          </a:xfrm>
          <a:prstGeom prst="rect">
            <a:avLst/>
          </a:prstGeom>
          <a:solidFill>
            <a:srgbClr val="FF6B6B">
              <a:alpha val="7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709160" y="8686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6B6B"/>
                </a:solidFill>
              </a:rPr>
              <a:t>⚠️  ҚАУІП БАҒАЛАУ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709160" y="129844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C3F7"/>
                </a:solidFill>
              </a:rPr>
              <a:t>🌬️ Жел: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492240" y="12984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</a:rPr>
              <a:t>&gt; 50 km/h → +15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709160" y="163677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</a:rPr>
              <a:t>🌧️ Жауын: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492240" y="163677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</a:rPr>
              <a:t>&gt; 15 mm → +20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709160" y="197510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</a:rPr>
              <a:t>🌡️ Температура: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492240" y="197510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</a:rPr>
              <a:t>&gt; 40°C / &lt; -30°C → +12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709160" y="231343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61FF"/>
                </a:solidFill>
              </a:rPr>
              <a:t>☀️ UV: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492240" y="231343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</a:rPr>
              <a:t>&gt; 8 → +6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320040" y="2834640"/>
            <a:ext cx="8503920" cy="1005840"/>
          </a:xfrm>
          <a:prstGeom prst="rect">
            <a:avLst/>
          </a:prstGeom>
          <a:solidFill>
            <a:srgbClr val="FF6B6B">
              <a:alpha val="15000"/>
            </a:srgbClr>
          </a:solidFill>
          <a:ln w="19050">
            <a:solidFill>
              <a:srgbClr val="FF6B6B">
                <a:alpha val="7000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02920" y="3017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🚨  ЖОҒАРЫ ҚАУІП ШЕГІ: Ұпай ≥ 60 → Дереу ескерту + алдын алу ұсыныстары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320040" y="3977640"/>
            <a:ext cx="8503920" cy="347472"/>
          </a:xfrm>
          <a:prstGeom prst="rect">
            <a:avLst/>
          </a:prstGeom>
          <a:solidFill>
            <a:srgbClr val="1122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57200" y="40142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AAC8"/>
                </a:solidFill>
              </a:rPr>
              <a:t>📐  Time-series · Ықтималдық теориясы · Регрессия · Кластеризация (Pandas + GPT-4o-mini)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320040" y="4663440"/>
            <a:ext cx="8503920" cy="256032"/>
          </a:xfrm>
          <a:prstGeom prst="rect">
            <a:avLst/>
          </a:prstGeom>
          <a:solidFill>
            <a:srgbClr val="1122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20040" y="4681728"/>
            <a:ext cx="8503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9A7"/>
                </a:solidFill>
              </a:rPr>
              <a:t>guardianaiweatherpro.streamlit.app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60D1F">
              <a:alpha val="8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6D6A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20040" y="256032"/>
            <a:ext cx="502920" cy="329184"/>
          </a:xfrm>
          <a:prstGeom prst="rect">
            <a:avLst/>
          </a:prstGeom>
          <a:solidFill>
            <a:srgbClr val="06D6A0">
              <a:alpha val="8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20040" y="256032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0D1F"/>
                </a:solidFill>
              </a:rPr>
              <a:t>06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960120" y="201168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06D6A0"/>
                </a:solidFill>
              </a:rPr>
              <a:t>WINDY ИНТЕРАКТИВТІ КАРТА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320040" y="841248"/>
            <a:ext cx="1508760" cy="658368"/>
          </a:xfrm>
          <a:prstGeom prst="rect">
            <a:avLst/>
          </a:prstGeom>
          <a:solidFill>
            <a:srgbClr val="112240"/>
          </a:solidFill>
          <a:ln w="12700">
            <a:solidFill>
              <a:srgbClr val="00C9A7">
                <a:alpha val="5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93192" y="8961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</a:rPr>
              <a:t>💨 Жел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93192" y="11795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AC8"/>
                </a:solidFill>
              </a:rPr>
              <a:t>wind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965960" y="841248"/>
            <a:ext cx="1508760" cy="658368"/>
          </a:xfrm>
          <a:prstGeom prst="rect">
            <a:avLst/>
          </a:prstGeom>
          <a:solidFill>
            <a:srgbClr val="112240"/>
          </a:solidFill>
          <a:ln w="12700">
            <a:solidFill>
              <a:srgbClr val="4FC3F7">
                <a:alpha val="5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039112" y="8961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C3F7"/>
                </a:solidFill>
              </a:rPr>
              <a:t>🌧️ Жаңбыр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2039112" y="11795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AC8"/>
                </a:solidFill>
              </a:rPr>
              <a:t>rain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20040" y="1664208"/>
            <a:ext cx="1508760" cy="658368"/>
          </a:xfrm>
          <a:prstGeom prst="rect">
            <a:avLst/>
          </a:prstGeom>
          <a:solidFill>
            <a:srgbClr val="112240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93192" y="17190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❄️ Қар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93192" y="20025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AC8"/>
                </a:solidFill>
              </a:rPr>
              <a:t>snowcover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965960" y="1664208"/>
            <a:ext cx="1508760" cy="658368"/>
          </a:xfrm>
          <a:prstGeom prst="rect">
            <a:avLst/>
          </a:prstGeom>
          <a:solidFill>
            <a:srgbClr val="112240"/>
          </a:solidFill>
          <a:ln w="12700">
            <a:solidFill>
              <a:srgbClr val="8EAAC8">
                <a:alpha val="50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039112" y="17190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EAAC8"/>
                </a:solidFill>
              </a:rPr>
              <a:t>☁️ Бұлттылық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2039112" y="20025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AC8"/>
                </a:solidFill>
              </a:rPr>
              <a:t>clouds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320040" y="2487168"/>
            <a:ext cx="1508760" cy="658368"/>
          </a:xfrm>
          <a:prstGeom prst="rect">
            <a:avLst/>
          </a:prstGeom>
          <a:solidFill>
            <a:srgbClr val="112240"/>
          </a:solidFill>
          <a:ln w="12700">
            <a:solidFill>
              <a:srgbClr val="FFD166">
                <a:alpha val="50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93192" y="25420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</a:rPr>
              <a:t>⚡ Найзағай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93192" y="28254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AC8"/>
                </a:solidFill>
              </a:rPr>
              <a:t>thunder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1965960" y="2487168"/>
            <a:ext cx="1508760" cy="658368"/>
          </a:xfrm>
          <a:prstGeom prst="rect">
            <a:avLst/>
          </a:prstGeom>
          <a:solidFill>
            <a:srgbClr val="112240"/>
          </a:solidFill>
          <a:ln w="12700">
            <a:solidFill>
              <a:srgbClr val="8EAAC8">
                <a:alpha val="50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039112" y="25420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EAAC8"/>
                </a:solidFill>
              </a:rPr>
              <a:t>🌫️ Тұман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2039112" y="28254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AC8"/>
                </a:solidFill>
              </a:rPr>
              <a:t>smoke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320040" y="3310128"/>
            <a:ext cx="1508760" cy="658368"/>
          </a:xfrm>
          <a:prstGeom prst="rect">
            <a:avLst/>
          </a:prstGeom>
          <a:solidFill>
            <a:srgbClr val="112240"/>
          </a:solidFill>
          <a:ln w="12700">
            <a:solidFill>
              <a:srgbClr val="7B61FF">
                <a:alpha val="5000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93192" y="33649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61FF"/>
                </a:solidFill>
              </a:rPr>
              <a:t>🔵 Қысым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393192" y="364845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AC8"/>
                </a:solidFill>
              </a:rPr>
              <a:t>pressure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1965960" y="3310128"/>
            <a:ext cx="1508760" cy="658368"/>
          </a:xfrm>
          <a:prstGeom prst="rect">
            <a:avLst/>
          </a:prstGeom>
          <a:solidFill>
            <a:srgbClr val="112240"/>
          </a:solidFill>
          <a:ln w="12700">
            <a:solidFill>
              <a:srgbClr val="4FC3F7">
                <a:alpha val="5000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039112" y="33649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C3F7"/>
                </a:solidFill>
              </a:rPr>
              <a:t>💧 Ылғалдылық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2039112" y="364845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AC8"/>
                </a:solidFill>
              </a:rPr>
              <a:t>humidity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320040" y="4133088"/>
            <a:ext cx="1508760" cy="658368"/>
          </a:xfrm>
          <a:prstGeom prst="rect">
            <a:avLst/>
          </a:prstGeom>
          <a:solidFill>
            <a:srgbClr val="112240"/>
          </a:solidFill>
          <a:ln w="12700">
            <a:solidFill>
              <a:srgbClr val="00C9A7">
                <a:alpha val="5000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93192" y="41879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</a:rPr>
              <a:t>🌊 Толқын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393192" y="447141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AC8"/>
                </a:solidFill>
              </a:rPr>
              <a:t>waves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1965960" y="4133088"/>
            <a:ext cx="1508760" cy="658368"/>
          </a:xfrm>
          <a:prstGeom prst="rect">
            <a:avLst/>
          </a:prstGeom>
          <a:solidFill>
            <a:srgbClr val="112240"/>
          </a:solidFill>
          <a:ln w="12700">
            <a:solidFill>
              <a:srgbClr val="FF6B6B">
                <a:alpha val="5000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2039112" y="41879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</a:rPr>
              <a:t>🌡️ Температура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2039112" y="447141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AC8"/>
                </a:solidFill>
              </a:rPr>
              <a:t>temp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320040" y="4663440"/>
            <a:ext cx="8503920" cy="256032"/>
          </a:xfrm>
          <a:prstGeom prst="rect">
            <a:avLst/>
          </a:prstGeom>
          <a:solidFill>
            <a:srgbClr val="1122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320040" y="4681728"/>
            <a:ext cx="8503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9A7"/>
                </a:solidFill>
              </a:rPr>
              <a:t>guardianaiweatherpro.streamlit.app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6B6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502920" cy="329184"/>
          </a:xfrm>
          <a:prstGeom prst="rect">
            <a:avLst/>
          </a:prstGeom>
          <a:solidFill>
            <a:srgbClr val="FF6B6B">
              <a:alpha val="8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56032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0D1F"/>
                </a:solidFill>
              </a:rPr>
              <a:t>07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60120" y="201168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6B6B"/>
                </a:solidFill>
              </a:rPr>
              <a:t>MVP ДАМУ ЖОЛЫ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303520" y="640080"/>
            <a:ext cx="3520440" cy="3794760"/>
          </a:xfrm>
          <a:prstGeom prst="rect">
            <a:avLst/>
          </a:prstGeom>
          <a:solidFill>
            <a:srgbClr val="112240"/>
          </a:solidFill>
          <a:ln w="12700">
            <a:solidFill>
              <a:srgbClr val="00C9A7">
                <a:alpha val="60000"/>
              </a:srgbClr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4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5349240" y="685800"/>
            <a:ext cx="3429000" cy="3657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349240" y="440740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9A7"/>
                </a:solidFill>
              </a:rPr>
              <a:t>🖥️ Сайт скриншоты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1005840" y="841248"/>
            <a:ext cx="0" cy="3611880"/>
          </a:xfrm>
          <a:prstGeom prst="line">
            <a:avLst/>
          </a:prstGeom>
          <a:noFill/>
          <a:ln w="25400">
            <a:solidFill>
              <a:srgbClr val="8EAAC8">
                <a:alpha val="50000"/>
              </a:srgbClr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758952" y="777240"/>
            <a:ext cx="502920" cy="502920"/>
          </a:xfrm>
          <a:prstGeom prst="ellipse">
            <a:avLst/>
          </a:prstGeom>
          <a:solidFill>
            <a:srgbClr val="8EAAC8"/>
          </a:solidFill>
          <a:ln w="25400">
            <a:solidFill>
              <a:srgbClr val="0D1F3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58952" y="777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0D1F"/>
                </a:solidFill>
              </a:rPr>
              <a:t>1–2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1417320" y="795528"/>
            <a:ext cx="3657600" cy="457200"/>
          </a:xfrm>
          <a:prstGeom prst="rect">
            <a:avLst/>
          </a:prstGeom>
          <a:solidFill>
            <a:srgbClr val="112240"/>
          </a:solidFill>
          <a:ln w="12700">
            <a:solidFill>
              <a:srgbClr val="8EAAC8">
                <a:alpha val="5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508760" y="8686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Консоль → Веб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58952" y="1709928"/>
            <a:ext cx="502920" cy="502920"/>
          </a:xfrm>
          <a:prstGeom prst="ellipse">
            <a:avLst/>
          </a:prstGeom>
          <a:solidFill>
            <a:srgbClr val="4FC3F7"/>
          </a:solidFill>
          <a:ln w="25400">
            <a:solidFill>
              <a:srgbClr val="0D1F3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58952" y="17099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0D1F"/>
                </a:solidFill>
              </a:rPr>
              <a:t>3–4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1417320" y="1728216"/>
            <a:ext cx="3657600" cy="457200"/>
          </a:xfrm>
          <a:prstGeom prst="rect">
            <a:avLst/>
          </a:prstGeom>
          <a:solidFill>
            <a:srgbClr val="112240"/>
          </a:solidFill>
          <a:ln w="12700">
            <a:solidFill>
              <a:srgbClr val="4FC3F7">
                <a:alpha val="5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508760" y="18013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Спутник + ЖИ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758952" y="2642616"/>
            <a:ext cx="502920" cy="502920"/>
          </a:xfrm>
          <a:prstGeom prst="ellipse">
            <a:avLst/>
          </a:prstGeom>
          <a:solidFill>
            <a:srgbClr val="FFD166"/>
          </a:solidFill>
          <a:ln w="25400">
            <a:solidFill>
              <a:srgbClr val="0D1F3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58952" y="26426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0D1F"/>
                </a:solidFill>
              </a:rPr>
              <a:t>5–6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1417320" y="2660904"/>
            <a:ext cx="3657600" cy="457200"/>
          </a:xfrm>
          <a:prstGeom prst="rect">
            <a:avLst/>
          </a:prstGeom>
          <a:solidFill>
            <a:srgbClr val="112240"/>
          </a:solidFill>
          <a:ln w="12700">
            <a:solidFill>
              <a:srgbClr val="FFD166">
                <a:alpha val="50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508760" y="27340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UV + 24h + Windy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758952" y="3575304"/>
            <a:ext cx="502920" cy="502920"/>
          </a:xfrm>
          <a:prstGeom prst="ellipse">
            <a:avLst/>
          </a:prstGeom>
          <a:solidFill>
            <a:srgbClr val="06D6A0"/>
          </a:solidFill>
          <a:ln w="25400">
            <a:solidFill>
              <a:srgbClr val="0D1F3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58952" y="35753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0D1F"/>
                </a:solidFill>
              </a:rPr>
              <a:t>7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1417320" y="3593592"/>
            <a:ext cx="3657600" cy="457200"/>
          </a:xfrm>
          <a:prstGeom prst="rect">
            <a:avLst/>
          </a:prstGeom>
          <a:solidFill>
            <a:srgbClr val="112240"/>
          </a:solidFill>
          <a:ln w="12700">
            <a:solidFill>
              <a:srgbClr val="06D6A0">
                <a:alpha val="50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508760" y="366674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Толық MVP ✓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320040" y="4663440"/>
            <a:ext cx="8503920" cy="256032"/>
          </a:xfrm>
          <a:prstGeom prst="rect">
            <a:avLst/>
          </a:prstGeom>
          <a:solidFill>
            <a:srgbClr val="1122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20040" y="4681728"/>
            <a:ext cx="8503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9A7"/>
                </a:solidFill>
              </a:rPr>
              <a:t>guardianaiweatherpro.streamlit.app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502920" cy="329184"/>
          </a:xfrm>
          <a:prstGeom prst="rect">
            <a:avLst/>
          </a:prstGeom>
          <a:solidFill>
            <a:srgbClr val="00C9A7">
              <a:alpha val="8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56032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0D1F"/>
                </a:solidFill>
              </a:rPr>
              <a:t>08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60120" y="20116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00C9A7"/>
                </a:solidFill>
              </a:rPr>
              <a:t>GUARDIAN AI — МҮМКІНДІКТЕР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2057400" cy="1691640"/>
          </a:xfrm>
          <a:prstGeom prst="rect">
            <a:avLst/>
          </a:prstGeom>
          <a:solidFill>
            <a:srgbClr val="112240"/>
          </a:solidFill>
          <a:ln w="12700">
            <a:solidFill>
              <a:srgbClr val="00C9A7">
                <a:alpha val="50000"/>
              </a:srgbClr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24712"/>
            <a:ext cx="502920" cy="502920"/>
          </a:xfrm>
          <a:prstGeom prst="ellipse">
            <a:avLst/>
          </a:prstGeom>
          <a:solidFill>
            <a:srgbClr val="00C9A7">
              <a:alpha val="7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247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69848" y="1197864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</a:rPr>
              <a:t>Көптілділік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764792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AC8"/>
                </a:solidFill>
              </a:rPr>
              <a:t>ҚАЗ · РУС · ENG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32888" y="960120"/>
            <a:ext cx="2057400" cy="1691640"/>
          </a:xfrm>
          <a:prstGeom prst="rect">
            <a:avLst/>
          </a:prstGeom>
          <a:solidFill>
            <a:srgbClr val="112240"/>
          </a:solidFill>
          <a:ln w="12700">
            <a:solidFill>
              <a:srgbClr val="4FC3F7">
                <a:alpha val="50000"/>
              </a:srgbClr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4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70048" y="1124712"/>
            <a:ext cx="502920" cy="502920"/>
          </a:xfrm>
          <a:prstGeom prst="ellipse">
            <a:avLst/>
          </a:prstGeom>
          <a:solidFill>
            <a:srgbClr val="4FC3F7">
              <a:alpha val="7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70048" y="11247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📍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282696" y="1197864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C3F7"/>
                </a:solidFill>
              </a:rPr>
              <a:t>Геокодинг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70048" y="1764792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AC8"/>
                </a:solidFill>
              </a:rPr>
              <a:t>10 нұсқа / Nominatim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45736" y="960120"/>
            <a:ext cx="2057400" cy="1691640"/>
          </a:xfrm>
          <a:prstGeom prst="rect">
            <a:avLst/>
          </a:prstGeom>
          <a:solidFill>
            <a:srgbClr val="112240"/>
          </a:solidFill>
          <a:ln w="12700">
            <a:solidFill>
              <a:srgbClr val="FFD166">
                <a:alpha val="50000"/>
              </a:srgbClr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82896" y="1124712"/>
            <a:ext cx="502920" cy="502920"/>
          </a:xfrm>
          <a:prstGeom prst="ellipse">
            <a:avLst/>
          </a:prstGeom>
          <a:solidFill>
            <a:srgbClr val="FFD166">
              <a:alpha val="7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82896" y="11247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☀️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495544" y="1197864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</a:rPr>
              <a:t>UV Индексі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82896" y="1764792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AC8"/>
                </a:solidFill>
              </a:rPr>
              <a:t>Денсаулық ескертуі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958584" y="960120"/>
            <a:ext cx="2057400" cy="1691640"/>
          </a:xfrm>
          <a:prstGeom prst="rect">
            <a:avLst/>
          </a:prstGeom>
          <a:solidFill>
            <a:srgbClr val="112240"/>
          </a:solidFill>
          <a:ln w="12700">
            <a:solidFill>
              <a:srgbClr val="06D6A0">
                <a:alpha val="50000"/>
              </a:srgbClr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4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095744" y="1124712"/>
            <a:ext cx="502920" cy="502920"/>
          </a:xfrm>
          <a:prstGeom prst="ellipse">
            <a:avLst/>
          </a:prstGeom>
          <a:solidFill>
            <a:srgbClr val="06D6A0">
              <a:alpha val="7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95744" y="11247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💨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708392" y="1197864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</a:rPr>
              <a:t>AQI Бақылауы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095744" y="1764792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AC8"/>
                </a:solidFill>
              </a:rPr>
              <a:t>Жақсы/Орташа/Зиянды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2880360"/>
            <a:ext cx="2057400" cy="1691640"/>
          </a:xfrm>
          <a:prstGeom prst="rect">
            <a:avLst/>
          </a:prstGeom>
          <a:solidFill>
            <a:srgbClr val="112240"/>
          </a:solidFill>
          <a:ln w="12700">
            <a:solidFill>
              <a:srgbClr val="7B61FF">
                <a:alpha val="50000"/>
              </a:srgbClr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4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3044952"/>
            <a:ext cx="502920" cy="502920"/>
          </a:xfrm>
          <a:prstGeom prst="ellipse">
            <a:avLst/>
          </a:prstGeom>
          <a:solidFill>
            <a:srgbClr val="7B61FF">
              <a:alpha val="7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044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📅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069848" y="3118104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61FF"/>
                </a:solidFill>
              </a:rPr>
              <a:t>7 Күндік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3685032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AC8"/>
                </a:solidFill>
              </a:rPr>
              <a:t>Болжам + График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532888" y="2880360"/>
            <a:ext cx="2057400" cy="1691640"/>
          </a:xfrm>
          <a:prstGeom prst="rect">
            <a:avLst/>
          </a:prstGeom>
          <a:solidFill>
            <a:srgbClr val="112240"/>
          </a:solidFill>
          <a:ln w="12700">
            <a:solidFill>
              <a:srgbClr val="FF6B6B">
                <a:alpha val="50000"/>
              </a:srgbClr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4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670048" y="3044952"/>
            <a:ext cx="502920" cy="502920"/>
          </a:xfrm>
          <a:prstGeom prst="ellipse">
            <a:avLst/>
          </a:prstGeom>
          <a:solidFill>
            <a:srgbClr val="FF6B6B">
              <a:alpha val="7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670048" y="3044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🕐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3282696" y="3118104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</a:rPr>
              <a:t>24 Сағат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670048" y="3685032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AC8"/>
                </a:solidFill>
              </a:rPr>
              <a:t>Сағаттық болжам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45736" y="2880360"/>
            <a:ext cx="2057400" cy="1691640"/>
          </a:xfrm>
          <a:prstGeom prst="rect">
            <a:avLst/>
          </a:prstGeom>
          <a:solidFill>
            <a:srgbClr val="112240"/>
          </a:solidFill>
          <a:ln w="12700">
            <a:solidFill>
              <a:srgbClr val="00C9A7">
                <a:alpha val="50000"/>
              </a:srgbClr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4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882896" y="3044952"/>
            <a:ext cx="502920" cy="502920"/>
          </a:xfrm>
          <a:prstGeom prst="ellipse">
            <a:avLst/>
          </a:prstGeom>
          <a:solidFill>
            <a:srgbClr val="00C9A7">
              <a:alpha val="7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82896" y="3044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🌊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5495544" y="3118104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</a:rPr>
              <a:t>Windy Карта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882896" y="3685032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AC8"/>
                </a:solidFill>
              </a:rPr>
              <a:t>10+ қабат: жел,қар...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958584" y="2880360"/>
            <a:ext cx="2057400" cy="1691640"/>
          </a:xfrm>
          <a:prstGeom prst="rect">
            <a:avLst/>
          </a:prstGeom>
          <a:solidFill>
            <a:srgbClr val="112240"/>
          </a:solidFill>
          <a:ln w="12700">
            <a:solidFill>
              <a:srgbClr val="7B61FF">
                <a:alpha val="50000"/>
              </a:srgbClr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4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095744" y="3044952"/>
            <a:ext cx="502920" cy="502920"/>
          </a:xfrm>
          <a:prstGeom prst="ellipse">
            <a:avLst/>
          </a:prstGeom>
          <a:solidFill>
            <a:srgbClr val="7B61FF">
              <a:alpha val="7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095744" y="3044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7708392" y="3118104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61FF"/>
                </a:solidFill>
              </a:rPr>
              <a:t>GPT-4o-mini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7095744" y="3685032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AC8"/>
                </a:solidFill>
              </a:rPr>
              <a:t>ЖИ сараптама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20040" y="4663440"/>
            <a:ext cx="8503920" cy="256032"/>
          </a:xfrm>
          <a:prstGeom prst="rect">
            <a:avLst/>
          </a:prstGeom>
          <a:solidFill>
            <a:srgbClr val="1122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0040" y="4681728"/>
            <a:ext cx="8503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9A7"/>
                </a:solidFill>
              </a:rPr>
              <a:t>guardianaiweatherpro.streamlit.app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4389120" y="0"/>
            <a:ext cx="475488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389120" y="0"/>
            <a:ext cx="4754880" cy="5143500"/>
          </a:xfrm>
          <a:prstGeom prst="rect">
            <a:avLst/>
          </a:prstGeom>
          <a:solidFill>
            <a:srgbClr val="0D1F3C">
              <a:alpha val="7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7B61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20040" y="256032"/>
            <a:ext cx="502920" cy="329184"/>
          </a:xfrm>
          <a:prstGeom prst="rect">
            <a:avLst/>
          </a:prstGeom>
          <a:solidFill>
            <a:srgbClr val="7B61FF">
              <a:alpha val="8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20040" y="256032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0D1F"/>
                </a:solidFill>
              </a:rPr>
              <a:t>09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960120" y="201168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7B61FF"/>
                </a:solidFill>
              </a:rPr>
              <a:t>ЖИ САРАПТАМАСЫ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320040" y="804672"/>
            <a:ext cx="3931920" cy="1051560"/>
          </a:xfrm>
          <a:prstGeom prst="rect">
            <a:avLst/>
          </a:prstGeom>
          <a:solidFill>
            <a:srgbClr val="112240"/>
          </a:solidFill>
          <a:ln w="19050">
            <a:solidFill>
              <a:srgbClr val="7B61FF">
                <a:alpha val="7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8686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61FF"/>
                </a:solidFill>
              </a:rPr>
              <a:t>🤖 OpenAI GPT-4o-mini моделі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123444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EAAC8"/>
                </a:solidFill>
              </a:rPr>
              <a:t>Температура · Жел · Жауын · UV · AQI → Апат болжамы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20040" y="2029968"/>
            <a:ext cx="475488" cy="475488"/>
          </a:xfrm>
          <a:prstGeom prst="ellipse">
            <a:avLst/>
          </a:prstGeom>
          <a:solidFill>
            <a:srgbClr val="7B61FF">
              <a:alpha val="8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0040" y="20299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914400" y="2048256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Деректерді жинау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914400" y="2322576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AAC8"/>
                </a:solidFill>
              </a:rPr>
              <a:t>Open-Meteo, AQI API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20040" y="2743200"/>
            <a:ext cx="475488" cy="475488"/>
          </a:xfrm>
          <a:prstGeom prst="ellipse">
            <a:avLst/>
          </a:prstGeom>
          <a:solidFill>
            <a:srgbClr val="7B61FF">
              <a:alpha val="8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20040" y="2743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914400" y="276148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Математикалық талдау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914400" y="3035808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AAC8"/>
                </a:solidFill>
              </a:rPr>
              <a:t>Алгоритм, ұпай есептеу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320040" y="3456432"/>
            <a:ext cx="475488" cy="475488"/>
          </a:xfrm>
          <a:prstGeom prst="ellipse">
            <a:avLst/>
          </a:prstGeom>
          <a:solidFill>
            <a:srgbClr val="7B61FF">
              <a:alpha val="8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20040" y="34564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914400" y="347472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GPT-4o-mini талдайды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914400" y="374904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AAC8"/>
                </a:solidFill>
              </a:rPr>
              <a:t>Апат типін анықтайды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320040" y="4169664"/>
            <a:ext cx="475488" cy="475488"/>
          </a:xfrm>
          <a:prstGeom prst="ellipse">
            <a:avLst/>
          </a:prstGeom>
          <a:solidFill>
            <a:srgbClr val="7B61FF">
              <a:alpha val="8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20040" y="41696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914400" y="418795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Ұсыныс береді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914400" y="446227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AAC8"/>
                </a:solidFill>
              </a:rPr>
              <a:t>Алдын алу шаралары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320040" y="4663440"/>
            <a:ext cx="8503920" cy="256032"/>
          </a:xfrm>
          <a:prstGeom prst="rect">
            <a:avLst/>
          </a:prstGeom>
          <a:solidFill>
            <a:srgbClr val="1122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20040" y="4681728"/>
            <a:ext cx="8503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9A7"/>
                </a:solidFill>
              </a:rPr>
              <a:t>guardianaiweatherpro.streamlit.app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0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C3F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502920" cy="329184"/>
          </a:xfrm>
          <a:prstGeom prst="rect">
            <a:avLst/>
          </a:prstGeom>
          <a:solidFill>
            <a:srgbClr val="4FC3F7">
              <a:alpha val="8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56032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0D1F"/>
                </a:solidFill>
              </a:rPr>
              <a:t>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60120" y="20116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4FC3F7"/>
                </a:solidFill>
              </a:rPr>
              <a:t>БИЗНЕС-МОДЕЛЬ ЖӘНЕ БОЛАШАҚ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2057400" cy="2194560"/>
          </a:xfrm>
          <a:prstGeom prst="rect">
            <a:avLst/>
          </a:prstGeom>
          <a:solidFill>
            <a:srgbClr val="112240"/>
          </a:solidFill>
          <a:ln w="19050">
            <a:solidFill>
              <a:srgbClr val="FFD166">
                <a:alpha val="70000"/>
              </a:srgbClr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60120"/>
            <a:ext cx="2057400" cy="64008"/>
          </a:xfrm>
          <a:prstGeom prst="rect">
            <a:avLst/>
          </a:prstGeom>
          <a:solidFill>
            <a:srgbClr val="FFD16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86968" y="1143000"/>
            <a:ext cx="914400" cy="914400"/>
          </a:xfrm>
          <a:prstGeom prst="ellipse">
            <a:avLst/>
          </a:prstGeom>
          <a:solidFill>
            <a:srgbClr val="FFD166">
              <a:alpha val="78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11430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💰 SaaS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29768" y="2240280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D"/>
                </a:solidFill>
              </a:rPr>
              <a:t>PRO-жазылым &amp; B2B лицензия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532888" y="960120"/>
            <a:ext cx="2057400" cy="2194560"/>
          </a:xfrm>
          <a:prstGeom prst="rect">
            <a:avLst/>
          </a:prstGeom>
          <a:solidFill>
            <a:srgbClr val="112240"/>
          </a:solidFill>
          <a:ln w="19050">
            <a:solidFill>
              <a:srgbClr val="06D6A0">
                <a:alpha val="70000"/>
              </a:srgbClr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4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32888" y="960120"/>
            <a:ext cx="2057400" cy="64008"/>
          </a:xfrm>
          <a:prstGeom prst="rect">
            <a:avLst/>
          </a:prstGeom>
          <a:solidFill>
            <a:srgbClr val="06D6A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99816" y="1143000"/>
            <a:ext cx="914400" cy="914400"/>
          </a:xfrm>
          <a:prstGeom prst="ellipse">
            <a:avLst/>
          </a:prstGeom>
          <a:solidFill>
            <a:srgbClr val="06D6A0">
              <a:alpha val="78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99816" y="11430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🏗️ -80%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642616" y="2240280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D"/>
                </a:solidFill>
              </a:rPr>
              <a:t>Инфрақұрылым шығыны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45736" y="960120"/>
            <a:ext cx="2057400" cy="2194560"/>
          </a:xfrm>
          <a:prstGeom prst="rect">
            <a:avLst/>
          </a:prstGeom>
          <a:solidFill>
            <a:srgbClr val="112240"/>
          </a:solidFill>
          <a:ln w="19050">
            <a:solidFill>
              <a:srgbClr val="00C9A7">
                <a:alpha val="70000"/>
              </a:srgbClr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45736" y="960120"/>
            <a:ext cx="205740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12664" y="1143000"/>
            <a:ext cx="914400" cy="914400"/>
          </a:xfrm>
          <a:prstGeom prst="ellipse">
            <a:avLst/>
          </a:prstGeom>
          <a:solidFill>
            <a:srgbClr val="00C9A7">
              <a:alpha val="78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12664" y="11430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🚀 MVP✓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855464" y="2240280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D"/>
                </a:solidFill>
              </a:rPr>
              <a:t>Нарыққа тез шығу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958584" y="960120"/>
            <a:ext cx="2057400" cy="2194560"/>
          </a:xfrm>
          <a:prstGeom prst="rect">
            <a:avLst/>
          </a:prstGeom>
          <a:solidFill>
            <a:srgbClr val="112240"/>
          </a:solidFill>
          <a:ln w="19050">
            <a:solidFill>
              <a:srgbClr val="7B61FF">
                <a:alpha val="70000"/>
              </a:srgbClr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4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958584" y="960120"/>
            <a:ext cx="2057400" cy="64008"/>
          </a:xfrm>
          <a:prstGeom prst="rect">
            <a:avLst/>
          </a:prstGeom>
          <a:solidFill>
            <a:srgbClr val="7B61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25512" y="1143000"/>
            <a:ext cx="914400" cy="914400"/>
          </a:xfrm>
          <a:prstGeom prst="ellipse">
            <a:avLst/>
          </a:prstGeom>
          <a:solidFill>
            <a:srgbClr val="7B61FF">
              <a:alpha val="78000"/>
            </a:srgbClr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25512" y="11430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🤖 AI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068312" y="2240280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D"/>
                </a:solidFill>
              </a:rPr>
              <a:t>Автоматтандыру, масштаб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20040" y="3337560"/>
            <a:ext cx="8503920" cy="1481328"/>
          </a:xfrm>
          <a:prstGeom prst="rect">
            <a:avLst/>
          </a:prstGeom>
          <a:solidFill>
            <a:srgbClr val="112240"/>
          </a:solidFill>
          <a:ln w="12700">
            <a:solidFill>
              <a:srgbClr val="00C9A7">
                <a:alpha val="5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4015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C9A7"/>
                </a:solidFill>
              </a:rPr>
              <a:t>🚀  БОЛАШАҚ ЖОСПАРЛАР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" y="37490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D"/>
                </a:solidFill>
              </a:rPr>
              <a:t>📱 Мобильді қосымша (iOS/Android)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709160" y="37490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D"/>
                </a:solidFill>
              </a:rPr>
              <a:t>🌊 Сейсмикалық датчиктер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2920" y="425196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D"/>
                </a:solidFill>
              </a:rPr>
              <a:t>🧠 LSTM/Transformer моделдері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709160" y="425196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D"/>
                </a:solidFill>
              </a:rPr>
              <a:t>🏛️ ТЖД қызметімен интеграция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20040" y="4663440"/>
            <a:ext cx="8503920" cy="256032"/>
          </a:xfrm>
          <a:prstGeom prst="rect">
            <a:avLst/>
          </a:prstGeom>
          <a:solidFill>
            <a:srgbClr val="1122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681728"/>
            <a:ext cx="8503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9A7"/>
                </a:solidFill>
              </a:rPr>
              <a:t>guardianaiweatherpro.streamlit.app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0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D1F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217920" y="-731520"/>
            <a:ext cx="4572000" cy="4572000"/>
          </a:xfrm>
          <a:prstGeom prst="ellipse">
            <a:avLst/>
          </a:prstGeom>
          <a:solidFill>
            <a:srgbClr val="00C9A7">
              <a:alpha val="7000"/>
            </a:srgbClr>
          </a:solidFill>
          <a:ln w="12700">
            <a:solidFill>
              <a:srgbClr val="00C9A7">
                <a:alpha val="25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-1097280" y="2926080"/>
            <a:ext cx="3657600" cy="3657600"/>
          </a:xfrm>
          <a:prstGeom prst="ellipse">
            <a:avLst/>
          </a:prstGeom>
          <a:solidFill>
            <a:srgbClr val="4FC3F7">
              <a:alpha val="7000"/>
            </a:srgbClr>
          </a:solidFill>
          <a:ln w="12700">
            <a:solidFill>
              <a:srgbClr val="4FC3F7">
                <a:alpha val="2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749040" y="914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</a:rPr>
              <a:t>🌍</a:t>
            </a:r>
            <a:endParaRPr lang="en-US" sz="6400" dirty="0"/>
          </a:p>
        </p:txBody>
      </p:sp>
      <p:sp>
        <p:nvSpPr>
          <p:cNvPr id="7" name="Text 4"/>
          <p:cNvSpPr/>
          <p:nvPr/>
        </p:nvSpPr>
        <p:spPr>
          <a:xfrm>
            <a:off x="457200" y="1417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500" kern="0" dirty="0">
                <a:solidFill>
                  <a:srgbClr val="00C9A7"/>
                </a:solidFill>
              </a:rPr>
              <a:t>ҚОРЫТЫНДЫ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178308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Guardian AI Weather PRO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457200" y="260604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EAAC8"/>
                </a:solidFill>
              </a:rPr>
              <a:t>— технология мен адамзат қауіпсіздігін біріктіретін маңызды қадам —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286000" y="3154680"/>
            <a:ext cx="4572000" cy="18288"/>
          </a:xfrm>
          <a:prstGeom prst="rect">
            <a:avLst/>
          </a:prstGeom>
          <a:solidFill>
            <a:srgbClr val="00C9A7">
              <a:alpha val="5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9A7"/>
                </a:solidFill>
              </a:rPr>
              <a:t>🌐  guardianaiweatherpro.streamlit.app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7200" y="3840480"/>
            <a:ext cx="8229600" cy="777240"/>
          </a:xfrm>
          <a:prstGeom prst="rect">
            <a:avLst/>
          </a:prstGeom>
          <a:solidFill>
            <a:srgbClr val="1122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388620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F4FD"/>
                </a:solidFill>
              </a:rPr>
              <a:t>Авторлар: Арслан Өмен · Иманғали Құрбанбек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57200" y="42519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AAC8"/>
                </a:solidFill>
              </a:rPr>
              <a:t>Жетекші: Н.Әсілбай  |  Төлеби ауданы мектеп-интернаты, 9-сынып  |  2025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" y="46908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4FC3F7"/>
                </a:solidFill>
              </a:rPr>
              <a:t>НАЗАРЛАРЫҢЫЗҒА РАХМЕТ!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Guardian AI Weather PRO</dc:title>
  <dc:subject>PptxGenJS Presentation</dc:subject>
  <dc:creator>Арслан Өмен, Иманғали Құрбанбек</dc:creator>
  <cp:lastModifiedBy>Арслан Өмен, Иманғали Құрбанбек</cp:lastModifiedBy>
  <cp:revision>1</cp:revision>
  <dcterms:created xsi:type="dcterms:W3CDTF">2026-04-12T04:47:53Z</dcterms:created>
  <dcterms:modified xsi:type="dcterms:W3CDTF">2026-04-12T04:47:53Z</dcterms:modified>
</cp:coreProperties>
</file>