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926080" cy="2926080"/>
          </a:xfrm>
          <a:prstGeom prst="ellipse">
            <a:avLst/>
          </a:prstGeom>
          <a:solidFill>
            <a:srgbClr val="4FC3F7">
              <a:alpha val="10000"/>
            </a:srgbClr>
          </a:solidFill>
          <a:ln w="12700">
            <a:solidFill>
              <a:srgbClr val="4FC3F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109728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9A7"/>
                </a:solidFill>
              </a:rPr>
              <a:t>ЖИ · АУА РАЙ · ТАБИҒИ АПАТ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GUARDIAN AI</a:t>
            </a:r>
            <a:endParaRPr lang="en-US" sz="5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WEATHER PRO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EAAC8"/>
                </a:solidFill>
              </a:rPr>
              <a:t>Табиғи апаттарды жасанды интеллект арқылы болжайтын веб-платформа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8046720" cy="18288"/>
          </a:xfrm>
          <a:prstGeom prst="rect">
            <a:avLst/>
          </a:prstGeom>
          <a:solidFill>
            <a:srgbClr val="8EAAC8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D"/>
                </a:solidFill>
              </a:rPr>
              <a:t>Арслан Өмен  ·  Иманғали Құрбанбек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Жетекші: Н.Әсілбай  |  Төлеби ауданы, 9-сынып  |  2025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0" y="228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🌍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74320"/>
            <a:ext cx="502920" cy="32004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0C9A7"/>
                </a:solidFill>
              </a:rPr>
              <a:t>КІРІСПЕ ЖӘНЕ ӨЗЕКТІЛІК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02920" cy="502920"/>
          </a:xfrm>
          <a:prstGeom prst="ellipse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🌡️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0241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Климаттың өзгеруі — жаһандық мәселе. Апаттар жылдан жылға жиілеп барады.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965960"/>
            <a:ext cx="502920" cy="502920"/>
          </a:xfrm>
          <a:prstGeom prst="ellipse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19842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Су тасқыны, орман өрті, дауыл, аптап ыстық — миллиондаған адамдарға қауіп.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502920" cy="502920"/>
          </a:xfrm>
          <a:prstGeom prst="ellipse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9443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Апатты жойып қоймай, оны алдын ала болжау — ең маңызды міндет.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886200"/>
            <a:ext cx="502920" cy="502920"/>
          </a:xfrm>
          <a:prstGeom prst="ellipse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90448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ЖИ — үлкен деректерді жылдам өңдеп, апат ықтималдығын есептей алатын заманауи құрал.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68172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guardianaiweatherpro.streamlit.app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74320"/>
            <a:ext cx="502920" cy="320040"/>
          </a:xfrm>
          <a:prstGeom prst="rect">
            <a:avLst/>
          </a:prstGeom>
          <a:solidFill>
            <a:srgbClr val="4FC3F7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4FC3F7"/>
                </a:solidFill>
              </a:rPr>
              <a:t>МАҚСАТ ЖӘНЕ МІНДЕТТЕР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1051560"/>
          </a:xfrm>
          <a:prstGeom prst="rect">
            <a:avLst/>
          </a:prstGeom>
          <a:solidFill>
            <a:srgbClr val="4FC3F7">
              <a:alpha val="15000"/>
            </a:srgbClr>
          </a:solidFill>
          <a:ln w="12700">
            <a:solidFill>
              <a:srgbClr val="4FC3F7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22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C3F7"/>
                </a:solidFill>
              </a:rPr>
              <a:t>🎯  МАҚСАТ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Жасанды интеллект технологиясын пайдаланып, белгілі бір аймақтағы табиғи апат қаупін бағалайтын және қолданушыға алдын ала ескерту беретін веб-платформа әзірлеу.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2743200" cy="1143000"/>
          </a:xfrm>
          <a:prstGeom prst="rect">
            <a:avLst/>
          </a:prstGeom>
          <a:solidFill>
            <a:srgbClr val="112240"/>
          </a:solidFill>
          <a:ln w="12700">
            <a:solidFill>
              <a:srgbClr val="4FC3F7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48840"/>
            <a:ext cx="411480" cy="411480"/>
          </a:xfrm>
          <a:prstGeom prst="ellipse">
            <a:avLst/>
          </a:prstGeom>
          <a:solidFill>
            <a:srgbClr val="4FC3F7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D1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" y="217627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Табиғи апаттар туралы деректерді зерттеу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46120" y="2011680"/>
            <a:ext cx="2743200" cy="1143000"/>
          </a:xfrm>
          <a:prstGeom prst="rect">
            <a:avLst/>
          </a:prstGeom>
          <a:solidFill>
            <a:srgbClr val="112240"/>
          </a:solidFill>
          <a:ln w="12700">
            <a:solidFill>
              <a:srgbClr val="4FC3F7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2148840"/>
            <a:ext cx="411480" cy="411480"/>
          </a:xfrm>
          <a:prstGeom prst="ellipse">
            <a:avLst/>
          </a:prstGeom>
          <a:solidFill>
            <a:srgbClr val="4FC3F7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D1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04488" y="217627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Қауіп факторларын анықтау (температура, жел, ылғалдылық, UV, жаңбыр)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2011680"/>
            <a:ext cx="2651760" cy="1143000"/>
          </a:xfrm>
          <a:prstGeom prst="rect">
            <a:avLst/>
          </a:prstGeom>
          <a:solidFill>
            <a:srgbClr val="112240"/>
          </a:solidFill>
          <a:ln w="12700">
            <a:solidFill>
              <a:srgbClr val="4FC3F7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2148840"/>
            <a:ext cx="411480" cy="411480"/>
          </a:xfrm>
          <a:prstGeom prst="ellipse">
            <a:avLst/>
          </a:prstGeom>
          <a:solidFill>
            <a:srgbClr val="4FC3F7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D1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30568" y="2176272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ЖИ арқылы талдау логикасын құру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3337560"/>
            <a:ext cx="4160520" cy="1143000"/>
          </a:xfrm>
          <a:prstGeom prst="rect">
            <a:avLst/>
          </a:prstGeom>
          <a:solidFill>
            <a:srgbClr val="112240"/>
          </a:solidFill>
          <a:ln w="12700">
            <a:solidFill>
              <a:srgbClr val="4FC3F7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474720"/>
            <a:ext cx="411480" cy="411480"/>
          </a:xfrm>
          <a:prstGeom prst="ellipse">
            <a:avLst/>
          </a:prstGeom>
          <a:solidFill>
            <a:srgbClr val="4FC3F7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D1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8408" y="350215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MVP (минималды өміршең өнім) жасау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3337560"/>
            <a:ext cx="4160520" cy="1143000"/>
          </a:xfrm>
          <a:prstGeom prst="rect">
            <a:avLst/>
          </a:prstGeom>
          <a:solidFill>
            <a:srgbClr val="112240"/>
          </a:solidFill>
          <a:ln w="12700">
            <a:solidFill>
              <a:srgbClr val="4FC3F7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474720"/>
            <a:ext cx="411480" cy="411480"/>
          </a:xfrm>
          <a:prstGeom prst="ellipse">
            <a:avLst/>
          </a:prstGeom>
          <a:solidFill>
            <a:srgbClr val="4FC3F7">
              <a:alpha val="9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D1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21808" y="350215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Қауіп деңгейін бағалау алгоритмін енгізу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68172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guardianaiweatherpro.streamlit.app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B61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74320"/>
            <a:ext cx="502920" cy="320040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7B61FF"/>
                </a:solidFill>
              </a:rPr>
              <a:t>ШЕШІМ АРХИТЕКТУРАСЫ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011680" cy="3794760"/>
          </a:xfrm>
          <a:prstGeom prst="rect">
            <a:avLst/>
          </a:prstGeom>
          <a:solidFill>
            <a:srgbClr val="112240"/>
          </a:solidFill>
          <a:ln w="19050">
            <a:solidFill>
              <a:srgbClr val="00C9A7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2011680" cy="50292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5097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10058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9A7"/>
                </a:solidFill>
              </a:rPr>
              <a:t>UI ҚАБАТЫ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Streamlit Framework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AC8"/>
                </a:solidFill>
              </a:rPr>
              <a:t>Адаптивті веб-интерфейс, кез келген құрылғыда жұмыс істейді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31720" y="2743200"/>
            <a:ext cx="201168" cy="0"/>
          </a:xfrm>
          <a:prstGeom prst="line">
            <a:avLst/>
          </a:prstGeom>
          <a:noFill/>
          <a:ln w="19050">
            <a:solidFill>
              <a:srgbClr val="8EAAC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532888" y="914400"/>
            <a:ext cx="2011680" cy="3794760"/>
          </a:xfrm>
          <a:prstGeom prst="rect">
            <a:avLst/>
          </a:prstGeom>
          <a:solidFill>
            <a:srgbClr val="112240"/>
          </a:solidFill>
          <a:ln w="19050">
            <a:solidFill>
              <a:srgbClr val="4FC3F7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32888" y="914400"/>
            <a:ext cx="2011680" cy="502920"/>
          </a:xfrm>
          <a:prstGeom prst="rect">
            <a:avLst/>
          </a:prstGeom>
          <a:solidFill>
            <a:srgbClr val="4FC3F7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78608" y="95097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035808" y="10058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FC3F7"/>
                </a:solidFill>
              </a:rPr>
              <a:t>ДЕРЕКТЕР ҚАБАТЫ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70048" y="160020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Open-Meteo 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70048" y="210312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AC8"/>
                </a:solidFill>
              </a:rPr>
              <a:t>Нақты уақыттағы метеорологиялық және AQI деректері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44568" y="2743200"/>
            <a:ext cx="201168" cy="0"/>
          </a:xfrm>
          <a:prstGeom prst="line">
            <a:avLst/>
          </a:prstGeom>
          <a:noFill/>
          <a:ln w="19050">
            <a:solidFill>
              <a:srgbClr val="8EAAC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745736" y="914400"/>
            <a:ext cx="2011680" cy="3794760"/>
          </a:xfrm>
          <a:prstGeom prst="rect">
            <a:avLst/>
          </a:prstGeom>
          <a:solidFill>
            <a:srgbClr val="112240"/>
          </a:solidFill>
          <a:ln w="19050">
            <a:solidFill>
              <a:srgbClr val="FFD166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45736" y="914400"/>
            <a:ext cx="2011680" cy="502920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1456" y="95097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48656" y="10058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D166"/>
                </a:solidFill>
              </a:rPr>
              <a:t>ӨҢДЕУ ҚАБАТЫ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82896" y="160020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Pandas Library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82896" y="210312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AC8"/>
                </a:solidFill>
              </a:rPr>
              <a:t>Шикі деректерді статистикалық форматқа түрлендіру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57416" y="2743200"/>
            <a:ext cx="201168" cy="0"/>
          </a:xfrm>
          <a:prstGeom prst="line">
            <a:avLst/>
          </a:prstGeom>
          <a:noFill/>
          <a:ln w="19050">
            <a:solidFill>
              <a:srgbClr val="8EAAC8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958584" y="914400"/>
            <a:ext cx="2011680" cy="3794760"/>
          </a:xfrm>
          <a:prstGeom prst="rect">
            <a:avLst/>
          </a:prstGeom>
          <a:solidFill>
            <a:srgbClr val="112240"/>
          </a:solidFill>
          <a:ln w="19050">
            <a:solidFill>
              <a:srgbClr val="7B61FF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58584" y="914400"/>
            <a:ext cx="2011680" cy="502920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04304" y="95097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461504" y="10058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B61FF"/>
                </a:solidFill>
              </a:rPr>
              <a:t>ИНТЕЛЛЕКТ ҚАБАТЫ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95744" y="160020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OpenAI GPT-4o-mini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95744" y="210312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AC8"/>
                </a:solidFill>
              </a:rPr>
              <a:t>LLM негізіндегі сапалы сараптама және ұсыныстар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68172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guardianaiweatherpro.streamlit.app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74320"/>
            <a:ext cx="502920" cy="32004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0C9A7"/>
                </a:solidFill>
              </a:rPr>
              <a:t>ТЕХНОЛОГИЯЛЫҚ СТЕК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743200" cy="1691640"/>
          </a:xfrm>
          <a:prstGeom prst="rect">
            <a:avLst/>
          </a:prstGeom>
          <a:solidFill>
            <a:srgbClr val="112240"/>
          </a:solidFill>
          <a:ln w="19050">
            <a:solidFill>
              <a:srgbClr val="00C9A7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64008" cy="1691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🐍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4300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Python 3.9+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</a:rPr>
              <a:t>Негізгі тіл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743200" cy="1691640"/>
          </a:xfrm>
          <a:prstGeom prst="rect">
            <a:avLst/>
          </a:prstGeom>
          <a:solidFill>
            <a:srgbClr val="112240"/>
          </a:solidFill>
          <a:ln w="19050">
            <a:solidFill>
              <a:srgbClr val="4FC3F7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05840"/>
            <a:ext cx="64008" cy="1691640"/>
          </a:xfrm>
          <a:prstGeom prst="rect">
            <a:avLst/>
          </a:prstGeom>
          <a:solidFill>
            <a:srgbClr val="4FC3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06908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Streamlit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6908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</a:rPr>
              <a:t>Веб-интерфейс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005840"/>
            <a:ext cx="2743200" cy="1691640"/>
          </a:xfrm>
          <a:prstGeom prst="rect">
            <a:avLst/>
          </a:prstGeom>
          <a:solidFill>
            <a:srgbClr val="112240"/>
          </a:solidFill>
          <a:ln w="19050">
            <a:solidFill>
              <a:srgbClr val="7B61FF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005840"/>
            <a:ext cx="64008" cy="1691640"/>
          </a:xfrm>
          <a:prstGeom prst="rect">
            <a:avLst/>
          </a:prstGeom>
          <a:solidFill>
            <a:srgbClr val="7B61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99516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OpenAI API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9516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61FF"/>
                </a:solidFill>
              </a:rPr>
              <a:t>ЖИ моделі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926080"/>
            <a:ext cx="2743200" cy="1691640"/>
          </a:xfrm>
          <a:prstGeom prst="rect">
            <a:avLst/>
          </a:prstGeom>
          <a:solidFill>
            <a:srgbClr val="112240"/>
          </a:solidFill>
          <a:ln w="19050">
            <a:solidFill>
              <a:srgbClr val="FFD166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926080"/>
            <a:ext cx="64008" cy="1691640"/>
          </a:xfrm>
          <a:prstGeom prst="rect">
            <a:avLst/>
          </a:prstGeom>
          <a:solidFill>
            <a:srgbClr val="FFD16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📡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14300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Open-Meteo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</a:rPr>
              <a:t>Ауа райы деректері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2926080"/>
            <a:ext cx="2743200" cy="1691640"/>
          </a:xfrm>
          <a:prstGeom prst="rect">
            <a:avLst/>
          </a:prstGeom>
          <a:solidFill>
            <a:srgbClr val="112240"/>
          </a:solidFill>
          <a:ln w="19050">
            <a:solidFill>
              <a:srgbClr val="06D6A0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2926080"/>
            <a:ext cx="64008" cy="1691640"/>
          </a:xfrm>
          <a:prstGeom prst="rect">
            <a:avLst/>
          </a:prstGeom>
          <a:solidFill>
            <a:srgbClr val="06D6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🗺️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406908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Nominatim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06908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</a:rPr>
              <a:t>Геокодинг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2926080"/>
            <a:ext cx="2743200" cy="1691640"/>
          </a:xfrm>
          <a:prstGeom prst="rect">
            <a:avLst/>
          </a:prstGeom>
          <a:solidFill>
            <a:srgbClr val="112240"/>
          </a:solidFill>
          <a:ln w="19050">
            <a:solidFill>
              <a:srgbClr val="FF6B6B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2926080"/>
            <a:ext cx="64008" cy="1691640"/>
          </a:xfrm>
          <a:prstGeom prst="rect">
            <a:avLst/>
          </a:prstGeom>
          <a:solidFill>
            <a:srgbClr val="FF6B6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🐼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699516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Pandas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9516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</a:rPr>
              <a:t>Деректер өңдеу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68172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guardianaiweatherpro.streamlit.app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74320"/>
            <a:ext cx="502920" cy="320040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D166"/>
                </a:solidFill>
              </a:rPr>
              <a:t>АЛГОРИТМДЕР ЖӘНЕ ЛОГИКА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069080" cy="1965960"/>
          </a:xfrm>
          <a:prstGeom prst="rect">
            <a:avLst/>
          </a:prstGeom>
          <a:solidFill>
            <a:srgbClr val="112240"/>
          </a:solidFill>
          <a:ln w="19050">
            <a:solidFill>
              <a:srgbClr val="FFD166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22960"/>
            <a:ext cx="4069080" cy="384048"/>
          </a:xfrm>
          <a:prstGeom prst="rect">
            <a:avLst/>
          </a:prstGeom>
          <a:solidFill>
            <a:srgbClr val="FFD166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</a:rPr>
              <a:t>💨  AQI АЛГОРИТМІ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3794760" cy="384048"/>
          </a:xfrm>
          <a:prstGeom prst="rect">
            <a:avLst/>
          </a:prstGeom>
          <a:solidFill>
            <a:srgbClr val="060D1F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716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AQI &lt; 50  →  ✅  Жақсы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1801368"/>
            <a:ext cx="3794760" cy="384048"/>
          </a:xfrm>
          <a:prstGeom prst="rect">
            <a:avLst/>
          </a:prstGeom>
          <a:solidFill>
            <a:srgbClr val="060D1F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470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AQI &lt; 100  →  🟡  Орташа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3794760" cy="384048"/>
          </a:xfrm>
          <a:prstGeom prst="rect">
            <a:avLst/>
          </a:prstGeom>
          <a:solidFill>
            <a:srgbClr val="060D1F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225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AQI &gt; 100  →  🔴  Зиянды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0" y="822960"/>
            <a:ext cx="4251960" cy="1965960"/>
          </a:xfrm>
          <a:prstGeom prst="rect">
            <a:avLst/>
          </a:prstGeom>
          <a:solidFill>
            <a:srgbClr val="112240"/>
          </a:solidFill>
          <a:ln w="19050">
            <a:solidFill>
              <a:srgbClr val="FF6B6B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822960"/>
            <a:ext cx="4251960" cy="384048"/>
          </a:xfrm>
          <a:prstGeom prst="rect">
            <a:avLst/>
          </a:prstGeom>
          <a:solidFill>
            <a:srgbClr val="FF6B6B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8686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B6B"/>
                </a:solidFill>
              </a:rPr>
              <a:t>⚠️  ҚАУІП БАҒАЛАУ АЛГОРИТМІ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1325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• Жел (km/h):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1325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&gt; 50 → +15 ұпай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168249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• Жауын (mm):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16824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&gt; 15 → +20 ұпай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20391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• Температура: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20391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&gt; 40°C немесе &lt; -30°C → +12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2395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1FF"/>
                </a:solidFill>
              </a:rPr>
              <a:t>• UV индексі: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395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&gt; 8 → +6 ұпай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2971800"/>
            <a:ext cx="8503920" cy="1005840"/>
          </a:xfrm>
          <a:prstGeom prst="rect">
            <a:avLst/>
          </a:prstGeom>
          <a:solidFill>
            <a:srgbClr val="FF6B6B">
              <a:alpha val="15000"/>
            </a:srgbClr>
          </a:solidFill>
          <a:ln w="19050">
            <a:solidFill>
              <a:srgbClr val="FF6B6B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0175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6B"/>
                </a:solidFill>
              </a:rPr>
              <a:t>🚨  ЖОҒАРЫ ҚАУІП ШЕГІ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337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Қауіп ұпайы ≥ 60 болса → «Жоғары қауіп» ескертуі шығарылады → Пайдаланушыға дереу алдын алу ұсыныстары беріледі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20040" y="4133088"/>
            <a:ext cx="850392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AC8"/>
                </a:solidFill>
              </a:rPr>
              <a:t>📐  Математикалық модельдер: уақыт қатарлары (time-series), ықтималдық теориясы, регрессия, кластеризация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68172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guardianaiweatherpro.streamlit.app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74320"/>
            <a:ext cx="502920" cy="320040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6D6A0"/>
                </a:solidFill>
              </a:rPr>
              <a:t>MVP ДАМУ ЖОЛЫ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96112" y="2651760"/>
            <a:ext cx="7955280" cy="0"/>
          </a:xfrm>
          <a:prstGeom prst="line">
            <a:avLst/>
          </a:prstGeom>
          <a:noFill/>
          <a:ln w="19050">
            <a:solidFill>
              <a:srgbClr val="8EAAC8">
                <a:alpha val="50000"/>
              </a:srgbClr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20040" y="1005840"/>
            <a:ext cx="2057400" cy="1325880"/>
          </a:xfrm>
          <a:prstGeom prst="rect">
            <a:avLst/>
          </a:prstGeom>
          <a:solidFill>
            <a:srgbClr val="112240"/>
          </a:solidFill>
          <a:ln w="19050">
            <a:solidFill>
              <a:srgbClr val="8EAAC8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2057400" cy="73152"/>
          </a:xfrm>
          <a:prstGeom prst="rect">
            <a:avLst/>
          </a:prstGeom>
          <a:solidFill>
            <a:srgbClr val="8EAAC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AAC8"/>
                </a:solidFill>
              </a:rPr>
              <a:t>💻  1–2 КЕЗЕҢ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Консоль → Веб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" y="1737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Консольдік бағдарламадан Streamlit веб-интерфейске көшу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24712" y="2450592"/>
            <a:ext cx="411480" cy="411480"/>
          </a:xfrm>
          <a:prstGeom prst="ellipse">
            <a:avLst/>
          </a:prstGeom>
          <a:solidFill>
            <a:srgbClr val="8EAAC8"/>
          </a:solidFill>
          <a:ln w="25400">
            <a:solidFill>
              <a:srgbClr val="060D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5880" y="2331720"/>
            <a:ext cx="0" cy="73152"/>
          </a:xfrm>
          <a:prstGeom prst="line">
            <a:avLst/>
          </a:prstGeom>
          <a:noFill/>
          <a:ln w="12700">
            <a:solidFill>
              <a:srgbClr val="8EAAC8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3063240"/>
            <a:ext cx="2057400" cy="1325880"/>
          </a:xfrm>
          <a:prstGeom prst="rect">
            <a:avLst/>
          </a:prstGeom>
          <a:solidFill>
            <a:srgbClr val="112240"/>
          </a:solidFill>
          <a:ln w="19050">
            <a:solidFill>
              <a:srgbClr val="4FC3F7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32888" y="3063240"/>
            <a:ext cx="20574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42616" y="3172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🛰️  3–4 КЕЗЕҢ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42616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Спутник + ЖИ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42616" y="3794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Спутниктік деректер модулі, ЖИ ұсыныстары интеграциясы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2450592"/>
            <a:ext cx="411480" cy="411480"/>
          </a:xfrm>
          <a:prstGeom prst="ellipse">
            <a:avLst/>
          </a:prstGeom>
          <a:solidFill>
            <a:srgbClr val="4FC3F7"/>
          </a:solidFill>
          <a:ln w="25400">
            <a:solidFill>
              <a:srgbClr val="060D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38728" y="2862072"/>
            <a:ext cx="0" cy="155448"/>
          </a:xfrm>
          <a:prstGeom prst="line">
            <a:avLst/>
          </a:prstGeom>
          <a:noFill/>
          <a:ln w="12700">
            <a:solidFill>
              <a:srgbClr val="4FC3F7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45736" y="1005840"/>
            <a:ext cx="2057400" cy="1325880"/>
          </a:xfrm>
          <a:prstGeom prst="rect">
            <a:avLst/>
          </a:prstGeom>
          <a:solidFill>
            <a:srgbClr val="112240"/>
          </a:solidFill>
          <a:ln w="19050">
            <a:solidFill>
              <a:srgbClr val="FFD166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45736" y="1005840"/>
            <a:ext cx="205740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5464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🗺️  5–6 КЕЗЕҢ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55464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UV + 24h + Карта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55464" y="1737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UV индексі, 24 сағаттық болжам, интерактивті жел/жаңбыр карталары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50408" y="2450592"/>
            <a:ext cx="411480" cy="411480"/>
          </a:xfrm>
          <a:prstGeom prst="ellipse">
            <a:avLst/>
          </a:prstGeom>
          <a:solidFill>
            <a:srgbClr val="FFD166"/>
          </a:solidFill>
          <a:ln w="25400">
            <a:solidFill>
              <a:srgbClr val="060D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51576" y="2331720"/>
            <a:ext cx="0" cy="73152"/>
          </a:xfrm>
          <a:prstGeom prst="line">
            <a:avLst/>
          </a:prstGeom>
          <a:noFill/>
          <a:ln w="12700">
            <a:solidFill>
              <a:srgbClr val="FFD166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58584" y="3063240"/>
            <a:ext cx="2057400" cy="1325880"/>
          </a:xfrm>
          <a:prstGeom prst="rect">
            <a:avLst/>
          </a:prstGeom>
          <a:solidFill>
            <a:srgbClr val="112240"/>
          </a:solidFill>
          <a:ln w="19050">
            <a:solidFill>
              <a:srgbClr val="06D6A0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58584" y="3063240"/>
            <a:ext cx="205740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68312" y="3172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✅  7 КЕЗЕҢ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68312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Толық MVP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68312" y="3794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Көптілділік, AQI, 7 күндік болжам, GPT-4o-mini толық интеграция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63256" y="2450592"/>
            <a:ext cx="411480" cy="411480"/>
          </a:xfrm>
          <a:prstGeom prst="ellipse">
            <a:avLst/>
          </a:prstGeom>
          <a:solidFill>
            <a:srgbClr val="06D6A0"/>
          </a:solidFill>
          <a:ln w="25400">
            <a:solidFill>
              <a:srgbClr val="060D1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64424" y="2862072"/>
            <a:ext cx="0" cy="155448"/>
          </a:xfrm>
          <a:prstGeom prst="line">
            <a:avLst/>
          </a:prstGeom>
          <a:noFill/>
          <a:ln w="12700">
            <a:solidFill>
              <a:srgbClr val="06D6A0">
                <a:alpha val="5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68172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guardianaiweatherpro.streamlit.app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6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74320"/>
            <a:ext cx="502920" cy="320040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6B6B"/>
                </a:solidFill>
              </a:rPr>
              <a:t>GUARDIAN AI WEATHER PRO — МҮМКІНДІКТЕР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05740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9A7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502920" cy="502920"/>
          </a:xfrm>
          <a:prstGeom prst="ellipse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69848" y="12161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Көптілділік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647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Қазақша · Русский · English тілдеріне толық қолдау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32888" y="960120"/>
            <a:ext cx="205740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4FC3F7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70048" y="1143000"/>
            <a:ext cx="502920" cy="502920"/>
          </a:xfrm>
          <a:prstGeom prst="ellipse">
            <a:avLst/>
          </a:prstGeom>
          <a:solidFill>
            <a:srgbClr val="4FC3F7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0048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82696" y="12161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</a:rPr>
              <a:t>Геокодинг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70048" y="17647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Кез келген қала атынан координат анықтау (10 нұсқа)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45736" y="960120"/>
            <a:ext cx="205740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82896" y="1143000"/>
            <a:ext cx="502920" cy="502920"/>
          </a:xfrm>
          <a:prstGeom prst="ellipse">
            <a:avLst/>
          </a:prstGeom>
          <a:solidFill>
            <a:srgbClr val="FFD166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☀️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95544" y="12161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UV Индексі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82896" y="17647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Нақты уақыттағы UV деңгейі және денсаулық ескертуі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58584" y="960120"/>
            <a:ext cx="205740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95744" y="1143000"/>
            <a:ext cx="502920" cy="502920"/>
          </a:xfrm>
          <a:prstGeom prst="ellipse">
            <a:avLst/>
          </a:prstGeom>
          <a:solidFill>
            <a:srgbClr val="06D6A0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95744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💨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708392" y="12161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AQI Бақылауы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95744" y="17647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Ауа сапасын үздіксіз талдау және бағалау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880360"/>
            <a:ext cx="205740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7B61FF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063240"/>
            <a:ext cx="502920" cy="502920"/>
          </a:xfrm>
          <a:prstGeom prst="ellipse">
            <a:avLst/>
          </a:prstGeom>
          <a:solidFill>
            <a:srgbClr val="7B61FF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69848" y="313639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</a:rPr>
              <a:t>7 Күндік болжам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6850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Температура, жауын, жел графиктері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32888" y="2880360"/>
            <a:ext cx="205740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6B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670048" y="3063240"/>
            <a:ext cx="502920" cy="502920"/>
          </a:xfrm>
          <a:prstGeom prst="ellipse">
            <a:avLst/>
          </a:prstGeom>
          <a:solidFill>
            <a:srgbClr val="FF6B6B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70048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🕐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282696" y="313639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</a:rPr>
              <a:t>24 Сағаттық болжам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670048" y="36850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Сағаттық температура мен жауын ықтималдығы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45736" y="2880360"/>
            <a:ext cx="205740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9A7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82896" y="3063240"/>
            <a:ext cx="502920" cy="502920"/>
          </a:xfrm>
          <a:prstGeom prst="ellipse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82896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495544" y="313639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ЖИ Сараптамасы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82896" y="36850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GPT-4o-mini негізіндегі апат болжамы мен ұсыныстар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58584" y="2880360"/>
            <a:ext cx="205740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6B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095744" y="3063240"/>
            <a:ext cx="502920" cy="502920"/>
          </a:xfrm>
          <a:prstGeom prst="ellipse">
            <a:avLst/>
          </a:prstGeom>
          <a:solidFill>
            <a:srgbClr val="FF6B6B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95744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708392" y="313639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</a:rPr>
              <a:t>Автоматты ескерту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095744" y="36850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Қауіп ≥ 60% болса — лезде хабарлама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68172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guardianaiweatherpro.streamlit.app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74320"/>
            <a:ext cx="502920" cy="320040"/>
          </a:xfrm>
          <a:prstGeom prst="rect">
            <a:avLst/>
          </a:prstGeom>
          <a:solidFill>
            <a:srgbClr val="4FC3F7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4FC3F7"/>
                </a:solidFill>
              </a:rPr>
              <a:t>БИЗНЕС-МОДЕЛЬ: SaaS ШЕШІМІ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057400" cy="3429000"/>
          </a:xfrm>
          <a:prstGeom prst="rect">
            <a:avLst/>
          </a:prstGeom>
          <a:solidFill>
            <a:srgbClr val="112240"/>
          </a:solidFill>
          <a:ln w="19050">
            <a:solidFill>
              <a:srgbClr val="FFD166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205740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188720"/>
            <a:ext cx="914400" cy="914400"/>
          </a:xfrm>
          <a:prstGeom prst="ellipse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9768" y="2286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D166"/>
                </a:solidFill>
              </a:rPr>
              <a:t>💰  МОНЕТИЗАЦИЯ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7432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PRO-жазылым және B2B лицензия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532888" y="1005840"/>
            <a:ext cx="2057400" cy="3429000"/>
          </a:xfrm>
          <a:prstGeom prst="rect">
            <a:avLst/>
          </a:prstGeom>
          <a:solidFill>
            <a:srgbClr val="112240"/>
          </a:solidFill>
          <a:ln w="19050">
            <a:solidFill>
              <a:srgbClr val="06D6A0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32888" y="1005840"/>
            <a:ext cx="205740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99816" y="1188720"/>
            <a:ext cx="914400" cy="914400"/>
          </a:xfrm>
          <a:prstGeom prst="ellipse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9816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-80%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42616" y="2286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D6A0"/>
                </a:solidFill>
              </a:rPr>
              <a:t>🏗️  ИНФРАҚҰРЫЛЫМ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42616" y="27432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share.streamlit.io арқылы шығындарды 80% оңтайландыру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45736" y="1005840"/>
            <a:ext cx="2057400" cy="3429000"/>
          </a:xfrm>
          <a:prstGeom prst="rect">
            <a:avLst/>
          </a:prstGeom>
          <a:solidFill>
            <a:srgbClr val="112240"/>
          </a:solidFill>
          <a:ln w="19050">
            <a:solidFill>
              <a:srgbClr val="00C9A7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45736" y="1005840"/>
            <a:ext cx="20574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12664" y="1188720"/>
            <a:ext cx="914400" cy="914400"/>
          </a:xfrm>
          <a:prstGeom prst="ellipse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12664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MVP✓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55464" y="2286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C9A7"/>
                </a:solidFill>
              </a:rPr>
              <a:t>🚀  НАРЫҚҚА ТЕЗ ШЫҒУ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55464" y="27432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MVP дайын, масштабтау мүмкіндігі жоғары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58584" y="1005840"/>
            <a:ext cx="2057400" cy="3429000"/>
          </a:xfrm>
          <a:prstGeom prst="rect">
            <a:avLst/>
          </a:prstGeom>
          <a:solidFill>
            <a:srgbClr val="112240"/>
          </a:solidFill>
          <a:ln w="19050">
            <a:solidFill>
              <a:srgbClr val="7B61FF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58584" y="1005840"/>
            <a:ext cx="2057400" cy="64008"/>
          </a:xfrm>
          <a:prstGeom prst="rect">
            <a:avLst/>
          </a:prstGeom>
          <a:solidFill>
            <a:srgbClr val="7B61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25512" y="1188720"/>
            <a:ext cx="914400" cy="914400"/>
          </a:xfrm>
          <a:prstGeom prst="ellipse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25512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AI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68312" y="2286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B61FF"/>
                </a:solidFill>
              </a:rPr>
              <a:t>🤖  AI АВТОМАТТАНДЫРУ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68312" y="27432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ЖИ негізді талдау, адам факторын азайту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68172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guardianaiweatherpro.streamlit.app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74320"/>
            <a:ext cx="502920" cy="320040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D1F"/>
                </a:solidFill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6D6A0"/>
                </a:solidFill>
              </a:rPr>
              <a:t>ӘЛЕМДІК ТӘЖІРИБЕ ЖӘНЕ БОЛАШАҚ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160520" cy="2560320"/>
          </a:xfrm>
          <a:prstGeom prst="rect">
            <a:avLst/>
          </a:prstGeom>
          <a:solidFill>
            <a:srgbClr val="112240"/>
          </a:solidFill>
          <a:ln w="19050">
            <a:solidFill>
              <a:srgbClr val="06D6A0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22960"/>
            <a:ext cx="4160520" cy="384048"/>
          </a:xfrm>
          <a:prstGeom prst="rect">
            <a:avLst/>
          </a:prstGeom>
          <a:solidFill>
            <a:srgbClr val="06D6A0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D6A0"/>
                </a:solidFill>
              </a:rPr>
              <a:t>🌍  ӘЛЕМДІК AI ТӘЖІРИБЕСІ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🇺🇸  NOAA (АҚШ, 2025–26)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5727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AI-driven тропикалық дауыл болжамы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8196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🇮🇳  Google Үндістан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0665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AI арқылы су тасқынын болжау жүйесі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3134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🇩🇪  Max Planck Inst. (2025)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5603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20 метрлік дәлдікпен апат болжамы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8072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🇧🇷  Бразилия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0540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8"/>
                </a:solidFill>
              </a:rPr>
              <a:t>AI арқылы жеке деңгейде ескерту беру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822960"/>
            <a:ext cx="4160520" cy="2560320"/>
          </a:xfrm>
          <a:prstGeom prst="rect">
            <a:avLst/>
          </a:prstGeom>
          <a:solidFill>
            <a:srgbClr val="112240"/>
          </a:solidFill>
          <a:ln w="19050">
            <a:solidFill>
              <a:srgbClr val="7B61FF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822960"/>
            <a:ext cx="4160520" cy="384048"/>
          </a:xfrm>
          <a:prstGeom prst="rect">
            <a:avLst/>
          </a:prstGeom>
          <a:solidFill>
            <a:srgbClr val="7B61FF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868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B61FF"/>
                </a:solidFill>
              </a:rPr>
              <a:t>🚀  БОЛАШАҚ ЖОСПАРЛАР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1325880"/>
            <a:ext cx="347472" cy="347472"/>
          </a:xfrm>
          <a:prstGeom prst="ellipse">
            <a:avLst/>
          </a:prstGeom>
          <a:solidFill>
            <a:srgbClr val="7B61FF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30368" y="1362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Мобильді қосымша нұсқасын жасау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00600" y="1783080"/>
            <a:ext cx="347472" cy="347472"/>
          </a:xfrm>
          <a:prstGeom prst="ellipse">
            <a:avLst/>
          </a:prstGeom>
          <a:solidFill>
            <a:srgbClr val="7B61FF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🌊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30368" y="1819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Сейсмикалық датчиктерді интеграциялау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00600" y="2240280"/>
            <a:ext cx="347472" cy="347472"/>
          </a:xfrm>
          <a:prstGeom prst="ellipse">
            <a:avLst/>
          </a:prstGeom>
          <a:solidFill>
            <a:srgbClr val="7B61FF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🔔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30368" y="2276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Push-хабарламалар жүйесін енгізу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00600" y="2697480"/>
            <a:ext cx="347472" cy="347472"/>
          </a:xfrm>
          <a:prstGeom prst="ellipse">
            <a:avLst/>
          </a:prstGeom>
          <a:solidFill>
            <a:srgbClr val="7B61FF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30368" y="27340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LSTM / Transformer моделдерін қосу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00600" y="3154680"/>
            <a:ext cx="347472" cy="347472"/>
          </a:xfrm>
          <a:prstGeom prst="ellipse">
            <a:avLst/>
          </a:prstGeom>
          <a:solidFill>
            <a:srgbClr val="7B61FF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🏛️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30368" y="3191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ТЖД қызметтерімен интеграция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20040" y="3566160"/>
            <a:ext cx="8503920" cy="868680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7307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F4FD"/>
                </a:solidFill>
              </a:rPr>
              <a:t>🌐  EW4All бастамасы — халықаралық Early Warning ЖИ желісіне үлес қосу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68172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</a:rPr>
              <a:t>guardianaiweatherpro.streamlit.app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00C9A7">
              <a:alpha val="8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4FC3F7">
              <a:alpha val="8000"/>
            </a:srgbClr>
          </a:solidFill>
          <a:ln w="12700">
            <a:solidFill>
              <a:srgbClr val="4FC3F7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137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🌍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00C9A7"/>
                </a:solidFill>
              </a:rPr>
              <a:t>ҚОРЫТЫНДЫ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Guardian AI Weather PRO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EAAC8"/>
                </a:solidFill>
              </a:rPr>
              <a:t>— технология мен адамзат қауіпсіздігін біріктіретін маңызды қадам 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0" y="3200400"/>
            <a:ext cx="4572000" cy="18288"/>
          </a:xfrm>
          <a:prstGeom prst="rect">
            <a:avLst/>
          </a:prstGeom>
          <a:solidFill>
            <a:srgbClr val="00C9A7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375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🌐  guardianaiweatherpro.streamlit.app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931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4FD"/>
                </a:solidFill>
              </a:rPr>
              <a:t>Авторлар: Арслан Өмен · Иманғали Құрбанбек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AC8"/>
                </a:solidFill>
              </a:rPr>
              <a:t>Жетекші: Н.Әсілбай  |  Төлеби ауданы мектеп-интернаты, 9-сынып  |  2025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4FC3F7"/>
                </a:solidFill>
              </a:rPr>
              <a:t>НАЗАРЛАРЫҢЫЗҒА РАХМЕТ!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Guardian AI Weather PRO</dc:title>
  <dc:subject>PptxGenJS Presentation</dc:subject>
  <dc:creator>Арслан Өмен, Иманғали Құрбанбек</dc:creator>
  <cp:lastModifiedBy>Арслан Өмен, Иманғали Құрбанбек</cp:lastModifiedBy>
  <cp:revision>1</cp:revision>
  <dcterms:created xsi:type="dcterms:W3CDTF">2026-04-11T19:00:47Z</dcterms:created>
  <dcterms:modified xsi:type="dcterms:W3CDTF">2026-04-11T19:00:47Z</dcterms:modified>
</cp:coreProperties>
</file>